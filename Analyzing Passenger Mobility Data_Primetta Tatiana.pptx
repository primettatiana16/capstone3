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93" r:id="rId2"/>
    <p:sldId id="257" r:id="rId3"/>
    <p:sldId id="272" r:id="rId4"/>
    <p:sldId id="294" r:id="rId5"/>
    <p:sldId id="264" r:id="rId6"/>
    <p:sldId id="295" r:id="rId7"/>
    <p:sldId id="297" r:id="rId8"/>
    <p:sldId id="298" r:id="rId9"/>
    <p:sldId id="304" r:id="rId10"/>
    <p:sldId id="302" r:id="rId11"/>
    <p:sldId id="296" r:id="rId12"/>
    <p:sldId id="305" r:id="rId13"/>
    <p:sldId id="279" r:id="rId14"/>
  </p:sldIdLst>
  <p:sldSz cx="12801600" cy="7772400"/>
  <p:notesSz cx="128016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2"/>
    <p:restoredTop sz="93116"/>
  </p:normalViewPr>
  <p:slideViewPr>
    <p:cSldViewPr>
      <p:cViewPr>
        <p:scale>
          <a:sx n="89" d="100"/>
          <a:sy n="89" d="100"/>
        </p:scale>
        <p:origin x="-2864" y="4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4672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251700" y="0"/>
            <a:ext cx="554672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B5556-6A9D-0E4F-8F31-8CD87C02754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41800" y="971550"/>
            <a:ext cx="4318000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79525" y="3740150"/>
            <a:ext cx="102425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554672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251700" y="7383463"/>
            <a:ext cx="554672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D9144-33E8-7443-BDDF-072070D3E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85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66288-1071-B751-4452-AE42CCE8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0F81C-32E6-7218-7F38-4F9AE51E6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8A53C-AAF5-ED71-9B14-3BEDDAB74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13386-15E5-1098-DF7E-55FB9EEEB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5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26F1-F70F-20DC-E58A-A8354C2B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99BA0-474D-C46C-2110-11E87B041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4948F-7193-414E-1BA6-3C194671C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D3803-3F85-5E12-5DFF-A5EA40A48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1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B31C-7C1F-A88A-46AB-9EC94A11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EE71F-6366-F173-FC73-8B24F6883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0AA83-0772-74A3-8498-8D552B416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A69D3-2CC9-F7F5-3193-54D3EF4C1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58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D00D-7696-C34A-896B-7952A339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72CFB-8CC7-EECF-5227-92414FC3C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5A809-A2AB-5C46-8129-967DB45D8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894A3-7CAB-4011-16A1-99854AF96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1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1682-0FCC-575D-4E33-1375A886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C2447-D79D-4BC6-8362-D7FF09BCC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1C840-ABDE-80D3-6B43-298116D2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0D041-C529-9236-7B1F-99939298E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54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8F78-1213-5683-A498-E6DA0E65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FACEA-98C1-A372-66D9-35B0E2FF9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4433B-465D-75A0-9B12-6D362437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6A0C5-5C68-9180-219B-17FF78A52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79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6353-E0BF-8C1E-CD7B-2ED8CD51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7A58A-9A5E-5537-1E8D-B937CE6A4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B6405-C33E-AE50-1BC9-E0D98D5FA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C91A3-D930-9FE7-A16C-3B11AC89D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9144-33E8-7443-BDDF-072070D3E6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34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409444"/>
            <a:ext cx="1088136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1F3FE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4352544"/>
            <a:ext cx="896112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1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3691" y="7063740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F3FE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1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F3FE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1787652"/>
            <a:ext cx="5568696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1787652"/>
            <a:ext cx="5568696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1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F3FE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1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1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3691" y="7063740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9406" y="412481"/>
            <a:ext cx="11663045" cy="1113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1F3FE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4478" y="1825290"/>
            <a:ext cx="7002145" cy="4768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15" dirty="0"/>
              <a:t> </a:t>
            </a:r>
            <a:r>
              <a:rPr spc="-10" dirty="0"/>
              <a:t>Company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7228332"/>
            <a:ext cx="294436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93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EB288D-D897-2BCF-28F8-CB5BD477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ansjakarta ke Bandara Soekarno-Hatta Pakai Bus &quot;Low Deck&quot;, Angkut  Penumpang Bukan dari Halte">
            <a:extLst>
              <a:ext uri="{FF2B5EF4-FFF2-40B4-BE49-F238E27FC236}">
                <a16:creationId xmlns:a16="http://schemas.microsoft.com/office/drawing/2014/main" id="{8193B5D4-83DC-668E-4B0C-53D3DB782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39296"/>
            <a:ext cx="13387388" cy="892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2F7A740-80CE-8667-ADBA-6018A53D7882}"/>
              </a:ext>
            </a:extLst>
          </p:cNvPr>
          <p:cNvSpPr/>
          <p:nvPr/>
        </p:nvSpPr>
        <p:spPr>
          <a:xfrm>
            <a:off x="-35312" y="-1039296"/>
            <a:ext cx="13387388" cy="8924925"/>
          </a:xfrm>
          <a:prstGeom prst="rect">
            <a:avLst/>
          </a:prstGeom>
          <a:solidFill>
            <a:schemeClr val="dk1">
              <a:alpha val="34148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11E78BE-3497-72CE-5F9D-FB52EB73A8B4}"/>
              </a:ext>
            </a:extLst>
          </p:cNvPr>
          <p:cNvSpPr txBox="1"/>
          <p:nvPr/>
        </p:nvSpPr>
        <p:spPr>
          <a:xfrm>
            <a:off x="563366" y="3594531"/>
            <a:ext cx="507543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000" dirty="0">
                <a:solidFill>
                  <a:srgbClr val="FFFFFF"/>
                </a:solidFill>
                <a:latin typeface="Arial"/>
                <a:cs typeface="Arial"/>
              </a:rPr>
              <a:t>Transaction – level analysis of </a:t>
            </a:r>
            <a:r>
              <a:rPr lang="en-US" sz="2000" dirty="0" err="1">
                <a:solidFill>
                  <a:srgbClr val="FFFFFF"/>
                </a:solidFill>
                <a:latin typeface="Arial"/>
                <a:cs typeface="Arial"/>
              </a:rPr>
              <a:t>TransJakarta</a:t>
            </a:r>
            <a:r>
              <a:rPr lang="en-US" sz="2000" dirty="0">
                <a:solidFill>
                  <a:srgbClr val="FFFFFF"/>
                </a:solidFill>
                <a:latin typeface="Arial"/>
                <a:cs typeface="Arial"/>
              </a:rPr>
              <a:t> smart card data – April 2023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4D28719-27A8-28E3-EF21-48232FCBF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499" y="800435"/>
            <a:ext cx="6193790" cy="23092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n-US" sz="3750" dirty="0">
                <a:solidFill>
                  <a:schemeClr val="bg1"/>
                </a:solidFill>
              </a:rPr>
              <a:t>Optimizing Peak-Hour Operations Through Passenger Mobility Analysis</a:t>
            </a:r>
            <a:endParaRPr sz="375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16EA4-AE10-21B7-CEF1-CB95A31F0C84}"/>
              </a:ext>
            </a:extLst>
          </p:cNvPr>
          <p:cNvSpPr txBox="1"/>
          <p:nvPr/>
        </p:nvSpPr>
        <p:spPr>
          <a:xfrm>
            <a:off x="13387388" y="7700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61E1F959-F0FD-F195-4EF6-58FCEAE05FC1}"/>
              </a:ext>
            </a:extLst>
          </p:cNvPr>
          <p:cNvSpPr txBox="1"/>
          <p:nvPr/>
        </p:nvSpPr>
        <p:spPr>
          <a:xfrm>
            <a:off x="631984" y="6703301"/>
            <a:ext cx="6061710" cy="53732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650" dirty="0">
                <a:solidFill>
                  <a:srgbClr val="FFFFFF"/>
                </a:solidFill>
                <a:latin typeface="Arial"/>
                <a:cs typeface="Arial"/>
              </a:rPr>
              <a:t>Primetta Tatiana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650" dirty="0">
                <a:solidFill>
                  <a:srgbClr val="FFFFFF"/>
                </a:solidFill>
                <a:latin typeface="Arial"/>
                <a:cs typeface="Arial"/>
              </a:rPr>
              <a:t>JCBDAAH-005</a:t>
            </a:r>
            <a:endParaRPr sz="14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1766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583691" y="7063740"/>
            <a:ext cx="3637915" cy="0"/>
          </a:xfrm>
          <a:custGeom>
            <a:avLst/>
            <a:gdLst/>
            <a:ahLst/>
            <a:cxnLst/>
            <a:rect l="l" t="t" r="r" b="b"/>
            <a:pathLst>
              <a:path w="3637915">
                <a:moveTo>
                  <a:pt x="0" y="0"/>
                </a:moveTo>
                <a:lnTo>
                  <a:pt x="3637788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501" y="1664121"/>
            <a:ext cx="3637915" cy="0"/>
          </a:xfrm>
          <a:custGeom>
            <a:avLst/>
            <a:gdLst/>
            <a:ahLst/>
            <a:cxnLst/>
            <a:rect l="l" t="t" r="r" b="b"/>
            <a:pathLst>
              <a:path w="3637915">
                <a:moveTo>
                  <a:pt x="0" y="0"/>
                </a:moveTo>
                <a:lnTo>
                  <a:pt x="3637788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1501" y="1112432"/>
            <a:ext cx="4140709" cy="4161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600" dirty="0">
                <a:solidFill>
                  <a:srgbClr val="000000"/>
                </a:solidFill>
              </a:rPr>
              <a:t>Table of Contents</a:t>
            </a:r>
            <a:endParaRPr sz="2600" dirty="0"/>
          </a:p>
        </p:txBody>
      </p:sp>
      <p:sp>
        <p:nvSpPr>
          <p:cNvPr id="10" name="object 10"/>
          <p:cNvSpPr txBox="1"/>
          <p:nvPr/>
        </p:nvSpPr>
        <p:spPr>
          <a:xfrm>
            <a:off x="583691" y="2099992"/>
            <a:ext cx="3637914" cy="3560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endParaRPr lang="en-US" sz="165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Executive Summary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Problem Statement &amp; Objectives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Dataset Description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Data Preprocessing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Traffic Generation Analysis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Peak Hour Analysis</a:t>
            </a:r>
          </a:p>
          <a:p>
            <a:pPr marL="355600" indent="-342900">
              <a:spcBef>
                <a:spcPts val="765"/>
              </a:spcBef>
              <a:buFont typeface="+mj-lt"/>
              <a:buAutoNum type="arabicPeriod"/>
            </a:pPr>
            <a:r>
              <a:rPr lang="en-US" sz="1650" b="1" dirty="0">
                <a:latin typeface="Arial"/>
                <a:cs typeface="Arial"/>
              </a:rPr>
              <a:t>Conclusion &amp; Insights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endParaRPr lang="en-US" sz="165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</a:pPr>
            <a:endParaRPr lang="en-US" sz="1650" b="1" dirty="0">
              <a:latin typeface="Arial"/>
              <a:cs typeface="Arial"/>
            </a:endParaRPr>
          </a:p>
        </p:txBody>
      </p:sp>
      <p:pic>
        <p:nvPicPr>
          <p:cNvPr id="6148" name="Picture 4" descr="Tarif Transjakarta Bakal Naik, Pramono: Usulannya Rp5-7 Ribu">
            <a:extLst>
              <a:ext uri="{FF2B5EF4-FFF2-40B4-BE49-F238E27FC236}">
                <a16:creationId xmlns:a16="http://schemas.microsoft.com/office/drawing/2014/main" id="{884BE41D-F67C-1235-19B0-848D8AAC3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567" y="1828800"/>
            <a:ext cx="8280100" cy="4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9E94786-2674-F2F8-F916-A2C03B0FA05A}"/>
              </a:ext>
            </a:extLst>
          </p:cNvPr>
          <p:cNvSpPr/>
          <p:nvPr/>
        </p:nvSpPr>
        <p:spPr>
          <a:xfrm>
            <a:off x="4504567" y="1812758"/>
            <a:ext cx="8280100" cy="4703762"/>
          </a:xfrm>
          <a:prstGeom prst="rect">
            <a:avLst/>
          </a:prstGeom>
          <a:solidFill>
            <a:schemeClr val="dk1">
              <a:alpha val="31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bject 48">
            <a:extLst>
              <a:ext uri="{FF2B5EF4-FFF2-40B4-BE49-F238E27FC236}">
                <a16:creationId xmlns:a16="http://schemas.microsoft.com/office/drawing/2014/main" id="{58673684-1E8B-AC0C-BCC6-A70AD512E24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2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1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Passenger demand is heavily concentrated during weekday commuting periods, creating significant pressure on several </a:t>
            </a:r>
            <a:r>
              <a:rPr lang="en-US" sz="2400" dirty="0" err="1">
                <a:solidFill>
                  <a:srgbClr val="000000"/>
                </a:solidFill>
              </a:rPr>
              <a:t>TransJakarta</a:t>
            </a:r>
            <a:r>
              <a:rPr lang="en-US" sz="2400" dirty="0">
                <a:solidFill>
                  <a:srgbClr val="000000"/>
                </a:solidFill>
              </a:rPr>
              <a:t> corridors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562955" y="1749887"/>
            <a:ext cx="4321810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b="1" dirty="0">
                <a:latin typeface="Arial"/>
                <a:cs typeface="Arial"/>
              </a:rPr>
              <a:t>Demand concentration…..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3180" y="1749887"/>
            <a:ext cx="3930650" cy="5136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 dirty="0">
                <a:latin typeface="Arial"/>
                <a:cs typeface="Arial"/>
              </a:rPr>
              <a:t>…</a:t>
            </a:r>
            <a:r>
              <a:rPr sz="1650" b="1" spc="65" dirty="0">
                <a:latin typeface="Arial"/>
                <a:cs typeface="Arial"/>
              </a:rPr>
              <a:t> </a:t>
            </a:r>
            <a:r>
              <a:rPr lang="en-US" sz="1650" b="1" spc="65" dirty="0">
                <a:latin typeface="Arial"/>
                <a:cs typeface="Arial"/>
              </a:rPr>
              <a:t>resulting in uneven operation load across the network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35223" y="1869255"/>
            <a:ext cx="323215" cy="317500"/>
            <a:chOff x="6141720" y="2249424"/>
            <a:chExt cx="323215" cy="317500"/>
          </a:xfrm>
        </p:grpSpPr>
        <p:sp>
          <p:nvSpPr>
            <p:cNvPr id="9" name="object 9"/>
            <p:cNvSpPr/>
            <p:nvPr/>
          </p:nvSpPr>
          <p:spPr>
            <a:xfrm>
              <a:off x="6141720" y="2249424"/>
              <a:ext cx="323215" cy="317500"/>
            </a:xfrm>
            <a:custGeom>
              <a:avLst/>
              <a:gdLst/>
              <a:ahLst/>
              <a:cxnLst/>
              <a:rect l="l" t="t" r="r" b="b"/>
              <a:pathLst>
                <a:path w="323214" h="317500">
                  <a:moveTo>
                    <a:pt x="161543" y="316991"/>
                  </a:moveTo>
                  <a:lnTo>
                    <a:pt x="110800" y="308847"/>
                  </a:lnTo>
                  <a:lnTo>
                    <a:pt x="66495" y="286219"/>
                  </a:lnTo>
                  <a:lnTo>
                    <a:pt x="31406" y="251813"/>
                  </a:lnTo>
                  <a:lnTo>
                    <a:pt x="8314" y="208336"/>
                  </a:lnTo>
                  <a:lnTo>
                    <a:pt x="0" y="158495"/>
                  </a:lnTo>
                  <a:lnTo>
                    <a:pt x="8314" y="108655"/>
                  </a:lnTo>
                  <a:lnTo>
                    <a:pt x="31406" y="65178"/>
                  </a:lnTo>
                  <a:lnTo>
                    <a:pt x="66495" y="30772"/>
                  </a:lnTo>
                  <a:lnTo>
                    <a:pt x="110800" y="8144"/>
                  </a:lnTo>
                  <a:lnTo>
                    <a:pt x="161543" y="0"/>
                  </a:lnTo>
                  <a:lnTo>
                    <a:pt x="212287" y="8144"/>
                  </a:lnTo>
                  <a:lnTo>
                    <a:pt x="256592" y="30772"/>
                  </a:lnTo>
                  <a:lnTo>
                    <a:pt x="291681" y="65178"/>
                  </a:lnTo>
                  <a:lnTo>
                    <a:pt x="314773" y="108655"/>
                  </a:lnTo>
                  <a:lnTo>
                    <a:pt x="323087" y="158495"/>
                  </a:lnTo>
                  <a:lnTo>
                    <a:pt x="314773" y="208336"/>
                  </a:lnTo>
                  <a:lnTo>
                    <a:pt x="291681" y="251813"/>
                  </a:lnTo>
                  <a:lnTo>
                    <a:pt x="256592" y="286219"/>
                  </a:lnTo>
                  <a:lnTo>
                    <a:pt x="212287" y="308847"/>
                  </a:lnTo>
                  <a:lnTo>
                    <a:pt x="161543" y="316991"/>
                  </a:lnTo>
                  <a:close/>
                </a:path>
              </a:pathLst>
            </a:custGeom>
            <a:solidFill>
              <a:srgbClr val="051C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0968" y="2328672"/>
              <a:ext cx="188976" cy="15849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367373" y="4688193"/>
            <a:ext cx="3092450" cy="5829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n-US" sz="1250" dirty="0">
                <a:latin typeface="Arial"/>
                <a:cs typeface="Arial"/>
              </a:rPr>
              <a:t>Several corridors face significant passenger concentration during peak commuting hours.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933" y="4689695"/>
            <a:ext cx="1003300" cy="449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0"/>
              </a:spcBef>
            </a:pPr>
            <a:r>
              <a:rPr lang="en-US" sz="1450" b="1" spc="-10" dirty="0">
                <a:latin typeface="Arial"/>
                <a:cs typeface="Arial"/>
              </a:rPr>
              <a:t>Corridor Pressure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7373" y="5608726"/>
            <a:ext cx="2127885" cy="97590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250" spc="-10" dirty="0">
                <a:latin typeface="Arial"/>
                <a:cs typeface="Arial"/>
              </a:rPr>
              <a:t>Passenger movement patterns indicate strong commuting flow toward city centers; business and activities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933" y="5610189"/>
            <a:ext cx="1084580" cy="449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0"/>
              </a:spcBef>
            </a:pPr>
            <a:r>
              <a:rPr lang="en-US" sz="1450" b="1" spc="-10" dirty="0">
                <a:latin typeface="Arial"/>
                <a:cs typeface="Arial"/>
              </a:rPr>
              <a:t>Mobility flow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7373" y="3479358"/>
            <a:ext cx="3171825" cy="6726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Weekday travel pattern are significantly more concentrated compared to weekend mobility behavior.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909" y="3574977"/>
            <a:ext cx="1276985" cy="449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0"/>
              </a:spcBef>
            </a:pPr>
            <a:r>
              <a:rPr lang="en-US" sz="1450" b="1" spc="-25" dirty="0">
                <a:latin typeface="Arial"/>
                <a:cs typeface="Arial"/>
              </a:rPr>
              <a:t>Weekday dependency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7373" y="2433406"/>
            <a:ext cx="2319020" cy="80919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250" dirty="0">
                <a:latin typeface="Arial"/>
                <a:cs typeface="Arial"/>
              </a:rPr>
              <a:t>Passenger traffic spikes significantly during: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06:00 – 09:00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17:00 – 19.00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2909" y="2530132"/>
            <a:ext cx="1221105" cy="449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00"/>
              </a:spcBef>
            </a:pPr>
            <a:r>
              <a:rPr lang="en-US" sz="1450" b="1" spc="-10" dirty="0">
                <a:latin typeface="Arial"/>
                <a:cs typeface="Arial"/>
              </a:rPr>
              <a:t>Peak-hour behavior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7194" y="3262190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7194" y="4472246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7194" y="5392742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Executive Summary</a:t>
            </a:r>
            <a:endParaRPr spc="-10"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3</a:t>
            </a:r>
            <a:endParaRPr spc="-25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B4517D7-A8E3-A528-9438-4190C706A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404" y="2821845"/>
            <a:ext cx="4171723" cy="183860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AC36D52-DD12-4A7F-4C92-ED0D6C5C29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6360" y="5356039"/>
            <a:ext cx="4537662" cy="1587479"/>
          </a:xfrm>
          <a:prstGeom prst="rect">
            <a:avLst/>
          </a:prstGeom>
        </p:spPr>
      </p:pic>
      <p:sp>
        <p:nvSpPr>
          <p:cNvPr id="51" name="object 15">
            <a:extLst>
              <a:ext uri="{FF2B5EF4-FFF2-40B4-BE49-F238E27FC236}">
                <a16:creationId xmlns:a16="http://schemas.microsoft.com/office/drawing/2014/main" id="{0A203319-59E2-C347-3FE5-1F908984A2B7}"/>
              </a:ext>
            </a:extLst>
          </p:cNvPr>
          <p:cNvSpPr txBox="1"/>
          <p:nvPr/>
        </p:nvSpPr>
        <p:spPr>
          <a:xfrm>
            <a:off x="6927739" y="2203383"/>
            <a:ext cx="4841051" cy="4802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Weekday traffic exhibits sharper commuting spikes, while weekend demand is more evenly distributed.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52" name="object 15">
            <a:extLst>
              <a:ext uri="{FF2B5EF4-FFF2-40B4-BE49-F238E27FC236}">
                <a16:creationId xmlns:a16="http://schemas.microsoft.com/office/drawing/2014/main" id="{E8CAC3A0-5AEF-44C3-B87C-86DF56722DCC}"/>
              </a:ext>
            </a:extLst>
          </p:cNvPr>
          <p:cNvSpPr txBox="1"/>
          <p:nvPr/>
        </p:nvSpPr>
        <p:spPr>
          <a:xfrm>
            <a:off x="6934666" y="4711170"/>
            <a:ext cx="4841051" cy="4802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The sharp weekday-weekend gap indicates strong commuter dependency across several high-demand corridors.</a:t>
            </a:r>
            <a:endParaRPr sz="12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AD11-BC17-F41C-5E7B-FE2AEF99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1FB432-1166-567C-1DA4-901272AD42C6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63AE0D-F13A-AC4C-FB21-43B90F992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2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Increasing urban mobility demand requires more adaptive and data-driven public transport operations</a:t>
            </a:r>
            <a:endParaRPr sz="24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324C5A4-37A1-3B6F-997A-A7051193E81E}"/>
              </a:ext>
            </a:extLst>
          </p:cNvPr>
          <p:cNvSpPr txBox="1"/>
          <p:nvPr/>
        </p:nvSpPr>
        <p:spPr>
          <a:xfrm>
            <a:off x="562955" y="1749887"/>
            <a:ext cx="4321810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b="1" dirty="0">
                <a:latin typeface="Arial"/>
                <a:cs typeface="Arial"/>
              </a:rPr>
              <a:t>Urban mobility faces several challenges…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34367AF-0567-0CC0-6EEA-38487B07BC08}"/>
              </a:ext>
            </a:extLst>
          </p:cNvPr>
          <p:cNvSpPr txBox="1"/>
          <p:nvPr/>
        </p:nvSpPr>
        <p:spPr>
          <a:xfrm>
            <a:off x="7023180" y="1749887"/>
            <a:ext cx="5049395" cy="772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b="1" dirty="0">
                <a:latin typeface="Arial"/>
                <a:cs typeface="Arial"/>
              </a:rPr>
              <a:t>The analysis aims to identify peak demand behavior and generate operational insights for service optimization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90758CF7-4CD4-603A-23DD-92698C1A9EEB}"/>
              </a:ext>
            </a:extLst>
          </p:cNvPr>
          <p:cNvGrpSpPr/>
          <p:nvPr/>
        </p:nvGrpSpPr>
        <p:grpSpPr>
          <a:xfrm>
            <a:off x="6092728" y="4069280"/>
            <a:ext cx="323215" cy="317500"/>
            <a:chOff x="6141720" y="2249424"/>
            <a:chExt cx="323215" cy="3175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D07E993-285B-EEC9-1F75-4E770F9FD64A}"/>
                </a:ext>
              </a:extLst>
            </p:cNvPr>
            <p:cNvSpPr/>
            <p:nvPr/>
          </p:nvSpPr>
          <p:spPr>
            <a:xfrm>
              <a:off x="6141720" y="2249424"/>
              <a:ext cx="323215" cy="317500"/>
            </a:xfrm>
            <a:custGeom>
              <a:avLst/>
              <a:gdLst/>
              <a:ahLst/>
              <a:cxnLst/>
              <a:rect l="l" t="t" r="r" b="b"/>
              <a:pathLst>
                <a:path w="323214" h="317500">
                  <a:moveTo>
                    <a:pt x="161543" y="316991"/>
                  </a:moveTo>
                  <a:lnTo>
                    <a:pt x="110800" y="308847"/>
                  </a:lnTo>
                  <a:lnTo>
                    <a:pt x="66495" y="286219"/>
                  </a:lnTo>
                  <a:lnTo>
                    <a:pt x="31406" y="251813"/>
                  </a:lnTo>
                  <a:lnTo>
                    <a:pt x="8314" y="208336"/>
                  </a:lnTo>
                  <a:lnTo>
                    <a:pt x="0" y="158495"/>
                  </a:lnTo>
                  <a:lnTo>
                    <a:pt x="8314" y="108655"/>
                  </a:lnTo>
                  <a:lnTo>
                    <a:pt x="31406" y="65178"/>
                  </a:lnTo>
                  <a:lnTo>
                    <a:pt x="66495" y="30772"/>
                  </a:lnTo>
                  <a:lnTo>
                    <a:pt x="110800" y="8144"/>
                  </a:lnTo>
                  <a:lnTo>
                    <a:pt x="161543" y="0"/>
                  </a:lnTo>
                  <a:lnTo>
                    <a:pt x="212287" y="8144"/>
                  </a:lnTo>
                  <a:lnTo>
                    <a:pt x="256592" y="30772"/>
                  </a:lnTo>
                  <a:lnTo>
                    <a:pt x="291681" y="65178"/>
                  </a:lnTo>
                  <a:lnTo>
                    <a:pt x="314773" y="108655"/>
                  </a:lnTo>
                  <a:lnTo>
                    <a:pt x="323087" y="158495"/>
                  </a:lnTo>
                  <a:lnTo>
                    <a:pt x="314773" y="208336"/>
                  </a:lnTo>
                  <a:lnTo>
                    <a:pt x="291681" y="251813"/>
                  </a:lnTo>
                  <a:lnTo>
                    <a:pt x="256592" y="286219"/>
                  </a:lnTo>
                  <a:lnTo>
                    <a:pt x="212287" y="308847"/>
                  </a:lnTo>
                  <a:lnTo>
                    <a:pt x="161543" y="316991"/>
                  </a:lnTo>
                  <a:close/>
                </a:path>
              </a:pathLst>
            </a:custGeom>
            <a:solidFill>
              <a:srgbClr val="051C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FE3F023F-70EF-3C74-B539-0DC1BF1D65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0968" y="2328672"/>
              <a:ext cx="188976" cy="158496"/>
            </a:xfrm>
            <a:prstGeom prst="rect">
              <a:avLst/>
            </a:prstGeom>
          </p:spPr>
        </p:pic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36185BDA-EACF-BC2A-3796-FFB0BCBC99BD}"/>
              </a:ext>
            </a:extLst>
          </p:cNvPr>
          <p:cNvSpPr txBox="1"/>
          <p:nvPr/>
        </p:nvSpPr>
        <p:spPr>
          <a:xfrm>
            <a:off x="680384" y="2294962"/>
            <a:ext cx="4501216" cy="6604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Peak-hour congestion creates pressure on public transport infrastructure </a:t>
            </a:r>
            <a:r>
              <a:rPr lang="en-US" sz="1400" dirty="0">
                <a:latin typeface="Arial"/>
                <a:cs typeface="Arial"/>
                <a:sym typeface="Wingdings" pitchFamily="2" charset="2"/>
              </a:rPr>
              <a:t> leading to overcrowded bus which may lessen bus’s life period.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FE88A2F-0580-259C-4D93-A66C3B957163}"/>
              </a:ext>
            </a:extLst>
          </p:cNvPr>
          <p:cNvSpPr/>
          <p:nvPr/>
        </p:nvSpPr>
        <p:spPr>
          <a:xfrm>
            <a:off x="562933" y="3078667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C2650FB-C0D9-C58A-3B14-EC4A52FE3214}"/>
              </a:ext>
            </a:extLst>
          </p:cNvPr>
          <p:cNvSpPr/>
          <p:nvPr/>
        </p:nvSpPr>
        <p:spPr>
          <a:xfrm>
            <a:off x="562933" y="4288723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E55DA62-82CA-EF30-83C8-CAA81F3B1658}"/>
              </a:ext>
            </a:extLst>
          </p:cNvPr>
          <p:cNvSpPr/>
          <p:nvPr/>
        </p:nvSpPr>
        <p:spPr>
          <a:xfrm>
            <a:off x="577194" y="5392742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702066AE-437D-B66F-D170-F694B61250F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2930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Business Objective &amp; Analytical Approach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A49DA77C-BEDF-6965-9114-A23FD1B4E65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4</a:t>
            </a:r>
            <a:endParaRPr spc="-25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6A3882-53E8-1032-910E-74C12C133436}"/>
              </a:ext>
            </a:extLst>
          </p:cNvPr>
          <p:cNvSpPr/>
          <p:nvPr/>
        </p:nvSpPr>
        <p:spPr>
          <a:xfrm>
            <a:off x="7341332" y="3242055"/>
            <a:ext cx="1680210" cy="1597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ED40B9BB-E4E3-0AA0-C84B-4E843A4E3AC2}"/>
              </a:ext>
            </a:extLst>
          </p:cNvPr>
          <p:cNvSpPr txBox="1"/>
          <p:nvPr/>
        </p:nvSpPr>
        <p:spPr>
          <a:xfrm>
            <a:off x="666123" y="3206018"/>
            <a:ext cx="4501216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High population density drives substantial daily commuter movement </a:t>
            </a:r>
            <a:r>
              <a:rPr lang="en-US" sz="1400" dirty="0">
                <a:latin typeface="Arial"/>
                <a:cs typeface="Arial"/>
                <a:sym typeface="Wingdings" pitchFamily="2" charset="2"/>
              </a:rPr>
              <a:t> which makes traffic in central business area prone to congestion which costs time and money.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B0DCD6A-83D1-F043-70A5-3B948D16E603}"/>
              </a:ext>
            </a:extLst>
          </p:cNvPr>
          <p:cNvSpPr txBox="1"/>
          <p:nvPr/>
        </p:nvSpPr>
        <p:spPr>
          <a:xfrm>
            <a:off x="583691" y="4839724"/>
            <a:ext cx="4321810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b="1" dirty="0">
                <a:latin typeface="Arial"/>
                <a:cs typeface="Arial"/>
              </a:rPr>
              <a:t>Importance for </a:t>
            </a:r>
            <a:r>
              <a:rPr lang="en-US" sz="1650" b="1" dirty="0" err="1">
                <a:latin typeface="Arial"/>
                <a:cs typeface="Arial"/>
              </a:rPr>
              <a:t>TransJakarta</a:t>
            </a:r>
            <a:r>
              <a:rPr lang="en-US" sz="1650" b="1" dirty="0">
                <a:latin typeface="Arial"/>
                <a:cs typeface="Arial"/>
              </a:rPr>
              <a:t>…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8F520349-30E5-8EE3-6E75-FF3E12C7AB67}"/>
              </a:ext>
            </a:extLst>
          </p:cNvPr>
          <p:cNvSpPr txBox="1"/>
          <p:nvPr/>
        </p:nvSpPr>
        <p:spPr>
          <a:xfrm>
            <a:off x="666123" y="5547801"/>
            <a:ext cx="4501216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Due to importance of reliable public mass transport, data driven operational planning is essential to allow efficient fleet allocation and support more effective transit management.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418A1507-1E3D-39B0-3337-E0B1E5EF4BFF}"/>
              </a:ext>
            </a:extLst>
          </p:cNvPr>
          <p:cNvSpPr txBox="1"/>
          <p:nvPr/>
        </p:nvSpPr>
        <p:spPr>
          <a:xfrm>
            <a:off x="6969857" y="2633673"/>
            <a:ext cx="450121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1400" dirty="0">
                <a:latin typeface="Arial"/>
                <a:cs typeface="Arial"/>
              </a:rPr>
              <a:t>Passenger demand behaviors are evaluated through four analytical stages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39C7D1B8-4D6F-EF67-7B71-16DB743F51D6}"/>
              </a:ext>
            </a:extLst>
          </p:cNvPr>
          <p:cNvSpPr txBox="1"/>
          <p:nvPr/>
        </p:nvSpPr>
        <p:spPr>
          <a:xfrm>
            <a:off x="7341332" y="3242055"/>
            <a:ext cx="1680210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1.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2000" dirty="0">
                <a:solidFill>
                  <a:srgbClr val="1F3FE6"/>
                </a:solidFill>
                <a:latin typeface="Arial"/>
                <a:cs typeface="Arial"/>
              </a:rPr>
              <a:t>Data Preparation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035D1A22-DDB6-D690-9025-6F882471DC1B}"/>
              </a:ext>
            </a:extLst>
          </p:cNvPr>
          <p:cNvSpPr txBox="1"/>
          <p:nvPr/>
        </p:nvSpPr>
        <p:spPr>
          <a:xfrm>
            <a:off x="9596999" y="3228636"/>
            <a:ext cx="1680210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2.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2000" dirty="0">
                <a:solidFill>
                  <a:srgbClr val="1F3FE6"/>
                </a:solidFill>
                <a:latin typeface="Arial"/>
                <a:cs typeface="Arial"/>
              </a:rPr>
              <a:t>Exploratory Analysis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2" name="object 14">
            <a:extLst>
              <a:ext uri="{FF2B5EF4-FFF2-40B4-BE49-F238E27FC236}">
                <a16:creationId xmlns:a16="http://schemas.microsoft.com/office/drawing/2014/main" id="{00B0BC8B-F5C6-5B1B-3C60-B4995F308BA7}"/>
              </a:ext>
            </a:extLst>
          </p:cNvPr>
          <p:cNvSpPr txBox="1"/>
          <p:nvPr/>
        </p:nvSpPr>
        <p:spPr>
          <a:xfrm>
            <a:off x="7341332" y="5051082"/>
            <a:ext cx="1680210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3.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2000" dirty="0">
                <a:solidFill>
                  <a:srgbClr val="1F3FE6"/>
                </a:solidFill>
                <a:latin typeface="Arial"/>
                <a:cs typeface="Arial"/>
              </a:rPr>
              <a:t>Peak Hour Analysis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67B099A5-0753-67DF-0967-80B7528CF3EB}"/>
              </a:ext>
            </a:extLst>
          </p:cNvPr>
          <p:cNvSpPr txBox="1"/>
          <p:nvPr/>
        </p:nvSpPr>
        <p:spPr>
          <a:xfrm>
            <a:off x="9596999" y="5080112"/>
            <a:ext cx="1680210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4.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2000" dirty="0">
                <a:solidFill>
                  <a:srgbClr val="1F3FE6"/>
                </a:solidFill>
                <a:latin typeface="Arial"/>
                <a:cs typeface="Arial"/>
              </a:rPr>
              <a:t>Operational Insights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510D4B-42FC-B450-5F6B-AA9532FD9FC8}"/>
              </a:ext>
            </a:extLst>
          </p:cNvPr>
          <p:cNvSpPr/>
          <p:nvPr/>
        </p:nvSpPr>
        <p:spPr>
          <a:xfrm>
            <a:off x="9598878" y="3242055"/>
            <a:ext cx="1680210" cy="1597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0E8196-2776-43B1-D703-6420B26E97F1}"/>
              </a:ext>
            </a:extLst>
          </p:cNvPr>
          <p:cNvSpPr/>
          <p:nvPr/>
        </p:nvSpPr>
        <p:spPr>
          <a:xfrm>
            <a:off x="7341332" y="5070866"/>
            <a:ext cx="1680210" cy="1597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155BC9-7731-E67D-ED99-DC924FD90369}"/>
              </a:ext>
            </a:extLst>
          </p:cNvPr>
          <p:cNvSpPr/>
          <p:nvPr/>
        </p:nvSpPr>
        <p:spPr>
          <a:xfrm>
            <a:off x="9596999" y="5070866"/>
            <a:ext cx="1680210" cy="1597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9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9581" y="279007"/>
            <a:ext cx="11600180" cy="1208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3055"/>
              </a:lnSpc>
              <a:spcBef>
                <a:spcPts val="125"/>
              </a:spcBef>
            </a:pPr>
            <a:r>
              <a:rPr lang="en-US" sz="2400" dirty="0">
                <a:solidFill>
                  <a:srgbClr val="000000"/>
                </a:solidFill>
              </a:rPr>
              <a:t>3</a:t>
            </a:r>
            <a:r>
              <a:rPr sz="2400" dirty="0">
                <a:solidFill>
                  <a:srgbClr val="000000"/>
                </a:solidFill>
              </a:rPr>
              <a:t>: </a:t>
            </a:r>
            <a:r>
              <a:rPr lang="en-US" sz="2400" dirty="0">
                <a:solidFill>
                  <a:srgbClr val="000000"/>
                </a:solidFill>
              </a:rPr>
              <a:t>The Dataset Captures Mean of 1,263 Daily Passenger Transaction Activity Across Multiple </a:t>
            </a:r>
            <a:r>
              <a:rPr lang="en-US" sz="2400" dirty="0" err="1">
                <a:solidFill>
                  <a:srgbClr val="000000"/>
                </a:solidFill>
              </a:rPr>
              <a:t>TransJakarta</a:t>
            </a:r>
            <a:r>
              <a:rPr lang="en-US" sz="2400" dirty="0">
                <a:solidFill>
                  <a:srgbClr val="000000"/>
                </a:solidFill>
              </a:rPr>
              <a:t> Corridors</a:t>
            </a:r>
            <a:br>
              <a:rPr lang="en-US" sz="2600" spc="20" dirty="0">
                <a:solidFill>
                  <a:srgbClr val="000000"/>
                </a:solidFill>
              </a:rPr>
            </a:br>
            <a:r>
              <a:rPr lang="en-US" sz="2600" spc="20" dirty="0">
                <a:solidFill>
                  <a:srgbClr val="000000"/>
                </a:solidFill>
              </a:rPr>
              <a:t> </a:t>
            </a:r>
            <a:r>
              <a:rPr lang="en-US" sz="1800" b="0" spc="20" dirty="0">
                <a:solidFill>
                  <a:srgbClr val="000000"/>
                </a:solidFill>
                <a:latin typeface="Arial"/>
                <a:cs typeface="Arial"/>
              </a:rPr>
              <a:t>Transaction-level </a:t>
            </a:r>
            <a:r>
              <a:rPr lang="en-US" sz="1800" b="0" spc="20" dirty="0" err="1">
                <a:solidFill>
                  <a:srgbClr val="000000"/>
                </a:solidFill>
                <a:latin typeface="Arial"/>
                <a:cs typeface="Arial"/>
              </a:rPr>
              <a:t>TransJakarta</a:t>
            </a:r>
            <a:r>
              <a:rPr lang="en-US" sz="1800" b="0" spc="20" dirty="0">
                <a:solidFill>
                  <a:srgbClr val="000000"/>
                </a:solidFill>
                <a:latin typeface="Arial"/>
                <a:cs typeface="Arial"/>
              </a:rPr>
              <a:t> passenger mobility data taken on April 2023.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Dataset Overview</a:t>
            </a:r>
            <a:endParaRPr spc="-10" dirty="0"/>
          </a:p>
        </p:txBody>
      </p:sp>
      <p:sp>
        <p:nvSpPr>
          <p:cNvPr id="33" name="object 33"/>
          <p:cNvSpPr txBox="1"/>
          <p:nvPr/>
        </p:nvSpPr>
        <p:spPr>
          <a:xfrm>
            <a:off x="12139591" y="7106621"/>
            <a:ext cx="9271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50" spc="-50" dirty="0">
                <a:latin typeface="Arial"/>
                <a:cs typeface="Arial"/>
              </a:rPr>
              <a:t>5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A501C9EA-B169-BA08-827F-AAB908A00321}"/>
              </a:ext>
            </a:extLst>
          </p:cNvPr>
          <p:cNvSpPr txBox="1"/>
          <p:nvPr/>
        </p:nvSpPr>
        <p:spPr>
          <a:xfrm>
            <a:off x="797623" y="2635419"/>
            <a:ext cx="1516709" cy="11296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37k+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600" dirty="0">
                <a:solidFill>
                  <a:srgbClr val="1F3FE6"/>
                </a:solidFill>
                <a:latin typeface="Arial"/>
                <a:cs typeface="Arial"/>
              </a:rPr>
              <a:t>Transactions</a:t>
            </a:r>
            <a:endParaRPr sz="1600" dirty="0">
              <a:solidFill>
                <a:srgbClr val="1F3FE6"/>
              </a:solidFill>
              <a:latin typeface="Arial"/>
              <a:cs typeface="Arial"/>
            </a:endParaRPr>
          </a:p>
        </p:txBody>
      </p:sp>
      <p:sp>
        <p:nvSpPr>
          <p:cNvPr id="46" name="object 14">
            <a:extLst>
              <a:ext uri="{FF2B5EF4-FFF2-40B4-BE49-F238E27FC236}">
                <a16:creationId xmlns:a16="http://schemas.microsoft.com/office/drawing/2014/main" id="{B18DC199-8368-A522-74EA-7ADBD6D4E85F}"/>
              </a:ext>
            </a:extLst>
          </p:cNvPr>
          <p:cNvSpPr txBox="1"/>
          <p:nvPr/>
        </p:nvSpPr>
        <p:spPr>
          <a:xfrm>
            <a:off x="3220306" y="2572103"/>
            <a:ext cx="1680210" cy="11296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30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600" dirty="0">
                <a:solidFill>
                  <a:srgbClr val="1F3FE6"/>
                </a:solidFill>
                <a:latin typeface="Arial"/>
                <a:cs typeface="Arial"/>
              </a:rPr>
              <a:t>Observation Days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7" name="object 14">
            <a:extLst>
              <a:ext uri="{FF2B5EF4-FFF2-40B4-BE49-F238E27FC236}">
                <a16:creationId xmlns:a16="http://schemas.microsoft.com/office/drawing/2014/main" id="{0CE4A7A8-68D7-9786-3278-B1E7B0C14BFC}"/>
              </a:ext>
            </a:extLst>
          </p:cNvPr>
          <p:cNvSpPr txBox="1"/>
          <p:nvPr/>
        </p:nvSpPr>
        <p:spPr>
          <a:xfrm>
            <a:off x="715871" y="5365007"/>
            <a:ext cx="1680210" cy="1135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23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600" dirty="0">
                <a:solidFill>
                  <a:srgbClr val="1F3FE6"/>
                </a:solidFill>
                <a:latin typeface="Arial"/>
                <a:cs typeface="Arial"/>
              </a:rPr>
              <a:t>Data Features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8" name="object 14">
            <a:extLst>
              <a:ext uri="{FF2B5EF4-FFF2-40B4-BE49-F238E27FC236}">
                <a16:creationId xmlns:a16="http://schemas.microsoft.com/office/drawing/2014/main" id="{81B2062E-2EEB-8D0F-8C41-0B0EF3632386}"/>
              </a:ext>
            </a:extLst>
          </p:cNvPr>
          <p:cNvSpPr txBox="1"/>
          <p:nvPr/>
        </p:nvSpPr>
        <p:spPr>
          <a:xfrm>
            <a:off x="3053199" y="5370843"/>
            <a:ext cx="1782982" cy="11296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14k+</a:t>
            </a:r>
            <a:endParaRPr sz="36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600" dirty="0">
                <a:solidFill>
                  <a:srgbClr val="1F3FE6"/>
                </a:solidFill>
                <a:latin typeface="Arial"/>
                <a:cs typeface="Arial"/>
              </a:rPr>
              <a:t>Missing Values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0670CF-8A5F-FD16-1AE4-F131FD9A6E71}"/>
              </a:ext>
            </a:extLst>
          </p:cNvPr>
          <p:cNvSpPr txBox="1"/>
          <p:nvPr/>
        </p:nvSpPr>
        <p:spPr>
          <a:xfrm>
            <a:off x="5873521" y="1750649"/>
            <a:ext cx="6400800" cy="51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ID" sz="1400" dirty="0">
                <a:latin typeface="Arial"/>
                <a:cs typeface="Arial"/>
              </a:rPr>
              <a:t>The largest missing values are associated with tap-out data, indicating potential errors in the tap-out machine system.</a:t>
            </a:r>
            <a:endParaRPr lang="en-US" sz="1400" dirty="0">
              <a:latin typeface="Arial"/>
              <a:cs typeface="Arial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9D7814F-B7A7-6CC1-796A-83D05302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28"/>
          <a:stretch>
            <a:fillRect/>
          </a:stretch>
        </p:blipFill>
        <p:spPr>
          <a:xfrm>
            <a:off x="527279" y="1727738"/>
            <a:ext cx="2057399" cy="9977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BD4A03B-A5DE-681C-213E-B21D30BA67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03" r="53781"/>
          <a:stretch>
            <a:fillRect/>
          </a:stretch>
        </p:blipFill>
        <p:spPr>
          <a:xfrm>
            <a:off x="3068067" y="1726504"/>
            <a:ext cx="1832449" cy="10076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76A8B2F-C8A3-C739-EE26-76091C67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38" t="1991" r="26895" b="-1991"/>
          <a:stretch>
            <a:fillRect/>
          </a:stretch>
        </p:blipFill>
        <p:spPr>
          <a:xfrm>
            <a:off x="544005" y="4168920"/>
            <a:ext cx="2040673" cy="10076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64FF4DD-7892-7F90-8F4C-9C9CA18B0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228" t="-1974" r="705" b="1974"/>
          <a:stretch>
            <a:fillRect/>
          </a:stretch>
        </p:blipFill>
        <p:spPr>
          <a:xfrm>
            <a:off x="2950717" y="4150335"/>
            <a:ext cx="2040673" cy="100769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EA2C7E7-F257-E62D-F854-E7F12B75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364" y="2672504"/>
            <a:ext cx="6516216" cy="4119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9848-D535-03DF-7ABD-AC6DD3E6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B4271D-120B-8F49-F69C-B6594D606A73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16E2BC2-E965-1587-58C0-E65C385473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4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More than 35k+ cleaned transaction records were validated and prepared for reliable operational and mobility analysis</a:t>
            </a:r>
            <a:endParaRPr sz="2400"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A53870C-601A-6911-EF79-7989CA2553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2930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Data Set Overview &amp; Service Distribution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54350920-15B2-1898-E02D-E8FE4A7DD79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6</a:t>
            </a:r>
            <a:endParaRPr spc="-25" dirty="0"/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5BD2A3C5-07AE-C49A-1482-6C2AAC3E86E1}"/>
              </a:ext>
            </a:extLst>
          </p:cNvPr>
          <p:cNvSpPr txBox="1"/>
          <p:nvPr/>
        </p:nvSpPr>
        <p:spPr>
          <a:xfrm>
            <a:off x="3143797" y="1822493"/>
            <a:ext cx="2528321" cy="56618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1905" marR="5080" algn="ctr">
              <a:spcBef>
                <a:spcPts val="100"/>
              </a:spcBef>
              <a:defRPr b="1" spc="-25">
                <a:solidFill>
                  <a:srgbClr val="1F3FE6"/>
                </a:solidFill>
                <a:latin typeface="Georgia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Operational Coverage Overview</a:t>
            </a:r>
            <a:endParaRPr dirty="0"/>
          </a:p>
        </p:txBody>
      </p:sp>
      <p:sp>
        <p:nvSpPr>
          <p:cNvPr id="28" name="object 14">
            <a:extLst>
              <a:ext uri="{FF2B5EF4-FFF2-40B4-BE49-F238E27FC236}">
                <a16:creationId xmlns:a16="http://schemas.microsoft.com/office/drawing/2014/main" id="{4CE056D6-59D0-5923-7E04-E144F4BB1251}"/>
              </a:ext>
            </a:extLst>
          </p:cNvPr>
          <p:cNvSpPr txBox="1"/>
          <p:nvPr/>
        </p:nvSpPr>
        <p:spPr>
          <a:xfrm>
            <a:off x="3632641" y="2553139"/>
            <a:ext cx="1680210" cy="1068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25" dirty="0">
                <a:solidFill>
                  <a:srgbClr val="1F3FE6"/>
                </a:solidFill>
                <a:latin typeface="Georgia"/>
                <a:cs typeface="Georgia"/>
              </a:rPr>
              <a:t>3,5k+</a:t>
            </a:r>
            <a:endParaRPr sz="32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400" dirty="0">
                <a:solidFill>
                  <a:srgbClr val="1F3FE6"/>
                </a:solidFill>
                <a:latin typeface="Arial"/>
                <a:cs typeface="Arial"/>
              </a:rPr>
              <a:t>Bus Stops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38EDC3F2-70D2-3692-A0C0-8B91C345EB18}"/>
              </a:ext>
            </a:extLst>
          </p:cNvPr>
          <p:cNvSpPr txBox="1"/>
          <p:nvPr/>
        </p:nvSpPr>
        <p:spPr>
          <a:xfrm>
            <a:off x="3617539" y="4026586"/>
            <a:ext cx="1680210" cy="1068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25" dirty="0">
                <a:solidFill>
                  <a:srgbClr val="1F3FE6"/>
                </a:solidFill>
                <a:latin typeface="Georgia"/>
                <a:cs typeface="Georgia"/>
              </a:rPr>
              <a:t>221</a:t>
            </a:r>
            <a:endParaRPr sz="32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400" dirty="0">
                <a:solidFill>
                  <a:srgbClr val="1F3FE6"/>
                </a:solidFill>
                <a:latin typeface="Arial"/>
                <a:cs typeface="Arial"/>
              </a:rPr>
              <a:t>Corridors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7AF9A4B4-C0AA-6EC8-BF49-075D173A959D}"/>
              </a:ext>
            </a:extLst>
          </p:cNvPr>
          <p:cNvSpPr txBox="1"/>
          <p:nvPr/>
        </p:nvSpPr>
        <p:spPr>
          <a:xfrm>
            <a:off x="301866" y="5421657"/>
            <a:ext cx="2681633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spc="-25" dirty="0">
                <a:solidFill>
                  <a:schemeClr val="tx1"/>
                </a:solidFill>
                <a:latin typeface="Georgia"/>
                <a:cs typeface="Georgia"/>
              </a:rPr>
              <a:t>6.39%</a:t>
            </a: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endParaRPr lang="en-US" sz="1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Invalid Records </a:t>
            </a: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Removed</a:t>
            </a: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B8FDBE-45E2-28B0-D7CF-C59E4CE73CED}"/>
              </a:ext>
            </a:extLst>
          </p:cNvPr>
          <p:cNvGrpSpPr/>
          <p:nvPr/>
        </p:nvGrpSpPr>
        <p:grpSpPr>
          <a:xfrm>
            <a:off x="509058" y="1942195"/>
            <a:ext cx="2400368" cy="2899100"/>
            <a:chOff x="518479" y="1551964"/>
            <a:chExt cx="2400368" cy="2899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A1EFB7-D025-8201-1236-5F516CF45499}"/>
                </a:ext>
              </a:extLst>
            </p:cNvPr>
            <p:cNvSpPr txBox="1"/>
            <p:nvPr/>
          </p:nvSpPr>
          <p:spPr>
            <a:xfrm>
              <a:off x="971441" y="2080353"/>
              <a:ext cx="1494445" cy="2178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95"/>
                </a:spcBef>
              </a:pPr>
              <a:r>
                <a:rPr lang="en-US" sz="1400" b="1" dirty="0">
                  <a:latin typeface="Arial"/>
                  <a:cs typeface="Arial"/>
                </a:rPr>
                <a:t>Missing Value</a:t>
              </a:r>
              <a:endParaRPr sz="1400" dirty="0">
                <a:latin typeface="Arial"/>
                <a:cs typeface="Arial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E6CEFDC-E2D4-9F93-FC4D-06E0A876263A}"/>
                </a:ext>
              </a:extLst>
            </p:cNvPr>
            <p:cNvCxnSpPr>
              <a:cxnSpLocks/>
            </p:cNvCxnSpPr>
            <p:nvPr/>
          </p:nvCxnSpPr>
          <p:spPr>
            <a:xfrm>
              <a:off x="1652104" y="2406910"/>
              <a:ext cx="0" cy="2600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BF831A0A-3E5C-5F36-21F7-BEA250A360C2}"/>
                </a:ext>
              </a:extLst>
            </p:cNvPr>
            <p:cNvSpPr txBox="1"/>
            <p:nvPr/>
          </p:nvSpPr>
          <p:spPr>
            <a:xfrm>
              <a:off x="794877" y="2775677"/>
              <a:ext cx="1833187" cy="2178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algn="ctr">
                <a:lnSpc>
                  <a:spcPct val="101800"/>
                </a:lnSpc>
                <a:spcBef>
                  <a:spcPts val="95"/>
                </a:spcBef>
              </a:pPr>
              <a:r>
                <a:rPr lang="en-US" sz="1400" b="1" dirty="0">
                  <a:latin typeface="Arial"/>
                  <a:cs typeface="Arial"/>
                </a:rPr>
                <a:t>Datatype Conversion</a:t>
              </a: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21B91AF5-1C96-E4E7-0E48-8305B302EAAE}"/>
                </a:ext>
              </a:extLst>
            </p:cNvPr>
            <p:cNvSpPr txBox="1"/>
            <p:nvPr/>
          </p:nvSpPr>
          <p:spPr>
            <a:xfrm>
              <a:off x="518479" y="1551964"/>
              <a:ext cx="2400368" cy="2891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0" tIns="12065" rIns="0" bIns="0" rtlCol="0">
              <a:spAutoFit/>
            </a:bodyPr>
            <a:lstStyle/>
            <a:p>
              <a:pPr marL="1905" marR="5080" algn="ctr">
                <a:spcBef>
                  <a:spcPts val="100"/>
                </a:spcBef>
              </a:pPr>
              <a:r>
                <a:rPr lang="en-US" b="1" spc="-25" dirty="0">
                  <a:solidFill>
                    <a:srgbClr val="1F3FE6"/>
                  </a:solidFill>
                  <a:latin typeface="Georgia"/>
                </a:rPr>
                <a:t>Data Cleaning Flow</a:t>
              </a:r>
              <a:endParaRPr b="1" spc="-25" dirty="0">
                <a:solidFill>
                  <a:srgbClr val="1F3FE6"/>
                </a:solidFill>
                <a:latin typeface="Georgia"/>
              </a:endParaRPr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C7E69FE2-44F3-DC8C-6B0B-C6D4C1D84320}"/>
                </a:ext>
              </a:extLst>
            </p:cNvPr>
            <p:cNvSpPr txBox="1"/>
            <p:nvPr/>
          </p:nvSpPr>
          <p:spPr>
            <a:xfrm>
              <a:off x="585305" y="4233184"/>
              <a:ext cx="2133598" cy="2178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algn="ctr">
                <a:lnSpc>
                  <a:spcPct val="101800"/>
                </a:lnSpc>
                <a:spcBef>
                  <a:spcPts val="95"/>
                </a:spcBef>
              </a:pPr>
              <a:r>
                <a:rPr lang="en-US" sz="1400" b="1" dirty="0">
                  <a:latin typeface="Arial"/>
                  <a:cs typeface="Arial"/>
                </a:rPr>
                <a:t>Data Validation</a:t>
              </a: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44" name="object 19">
              <a:extLst>
                <a:ext uri="{FF2B5EF4-FFF2-40B4-BE49-F238E27FC236}">
                  <a16:creationId xmlns:a16="http://schemas.microsoft.com/office/drawing/2014/main" id="{FC22E192-C661-18DD-4C67-738B8EAE27B8}"/>
                </a:ext>
              </a:extLst>
            </p:cNvPr>
            <p:cNvSpPr/>
            <p:nvPr/>
          </p:nvSpPr>
          <p:spPr>
            <a:xfrm>
              <a:off x="774095" y="1998443"/>
              <a:ext cx="1785575" cy="45719"/>
            </a:xfrm>
            <a:custGeom>
              <a:avLst/>
              <a:gdLst/>
              <a:ahLst/>
              <a:cxnLst/>
              <a:rect l="l" t="t" r="r" b="b"/>
              <a:pathLst>
                <a:path w="4980940">
                  <a:moveTo>
                    <a:pt x="0" y="0"/>
                  </a:moveTo>
                  <a:lnTo>
                    <a:pt x="4980431" y="0"/>
                  </a:lnTo>
                </a:path>
              </a:pathLst>
            </a:custGeom>
            <a:ln w="6096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45" name="object 14">
            <a:extLst>
              <a:ext uri="{FF2B5EF4-FFF2-40B4-BE49-F238E27FC236}">
                <a16:creationId xmlns:a16="http://schemas.microsoft.com/office/drawing/2014/main" id="{EF0AD3C5-121E-6F75-68DB-7B7366A7C046}"/>
              </a:ext>
            </a:extLst>
          </p:cNvPr>
          <p:cNvSpPr txBox="1"/>
          <p:nvPr/>
        </p:nvSpPr>
        <p:spPr>
          <a:xfrm>
            <a:off x="3632641" y="5489917"/>
            <a:ext cx="1680210" cy="1062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25" dirty="0">
                <a:solidFill>
                  <a:srgbClr val="1F3FE6"/>
                </a:solidFill>
                <a:latin typeface="Georgia"/>
                <a:cs typeface="Georgia"/>
              </a:rPr>
              <a:t>1,1k+</a:t>
            </a:r>
            <a:endParaRPr sz="32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400" dirty="0">
                <a:solidFill>
                  <a:srgbClr val="1F3FE6"/>
                </a:solidFill>
                <a:latin typeface="Arial"/>
                <a:cs typeface="Arial"/>
              </a:rPr>
              <a:t>Average Daily Trips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D68819-0426-ED87-5DA1-506FB100A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39" y="3083003"/>
            <a:ext cx="5503536" cy="3298703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2942A5E-F0BA-5D7D-B285-751FCA33F5A5}"/>
              </a:ext>
            </a:extLst>
          </p:cNvPr>
          <p:cNvCxnSpPr>
            <a:cxnSpLocks/>
          </p:cNvCxnSpPr>
          <p:nvPr/>
        </p:nvCxnSpPr>
        <p:spPr>
          <a:xfrm>
            <a:off x="1644306" y="3514431"/>
            <a:ext cx="0" cy="26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bject 5">
            <a:extLst>
              <a:ext uri="{FF2B5EF4-FFF2-40B4-BE49-F238E27FC236}">
                <a16:creationId xmlns:a16="http://schemas.microsoft.com/office/drawing/2014/main" id="{C3224997-8C10-A2DF-9621-DA4C53A56DF0}"/>
              </a:ext>
            </a:extLst>
          </p:cNvPr>
          <p:cNvSpPr txBox="1"/>
          <p:nvPr/>
        </p:nvSpPr>
        <p:spPr>
          <a:xfrm>
            <a:off x="806238" y="3883888"/>
            <a:ext cx="1833187" cy="2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400" b="1" dirty="0">
                <a:latin typeface="Arial"/>
                <a:cs typeface="Arial"/>
              </a:rPr>
              <a:t>Feature Engineering</a:t>
            </a:r>
            <a:endParaRPr sz="1400" dirty="0">
              <a:latin typeface="Arial"/>
              <a:cs typeface="Arial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DC06555-EBEB-74F5-EEFB-A37E21461577}"/>
              </a:ext>
            </a:extLst>
          </p:cNvPr>
          <p:cNvCxnSpPr>
            <a:cxnSpLocks/>
          </p:cNvCxnSpPr>
          <p:nvPr/>
        </p:nvCxnSpPr>
        <p:spPr>
          <a:xfrm>
            <a:off x="1666979" y="4244941"/>
            <a:ext cx="0" cy="26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1CBC0BF5-C683-C7FD-BFFB-A6F59079756A}"/>
              </a:ext>
            </a:extLst>
          </p:cNvPr>
          <p:cNvSpPr/>
          <p:nvPr/>
        </p:nvSpPr>
        <p:spPr>
          <a:xfrm>
            <a:off x="806238" y="5407802"/>
            <a:ext cx="1744011" cy="1283943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bject 19">
            <a:extLst>
              <a:ext uri="{FF2B5EF4-FFF2-40B4-BE49-F238E27FC236}">
                <a16:creationId xmlns:a16="http://schemas.microsoft.com/office/drawing/2014/main" id="{54D93A8C-38EC-C7F4-6EBA-C27DE536C53B}"/>
              </a:ext>
            </a:extLst>
          </p:cNvPr>
          <p:cNvSpPr/>
          <p:nvPr/>
        </p:nvSpPr>
        <p:spPr>
          <a:xfrm rot="16200000">
            <a:off x="579253" y="4274906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9">
            <a:extLst>
              <a:ext uri="{FF2B5EF4-FFF2-40B4-BE49-F238E27FC236}">
                <a16:creationId xmlns:a16="http://schemas.microsoft.com/office/drawing/2014/main" id="{B2A598CB-5164-993A-003D-DC0070AC3ACF}"/>
              </a:ext>
            </a:extLst>
          </p:cNvPr>
          <p:cNvSpPr/>
          <p:nvPr/>
        </p:nvSpPr>
        <p:spPr>
          <a:xfrm>
            <a:off x="3389515" y="2418639"/>
            <a:ext cx="1785575" cy="45719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F00A41E3-B9E3-3ED2-983B-39360088AFBE}"/>
              </a:ext>
            </a:extLst>
          </p:cNvPr>
          <p:cNvSpPr/>
          <p:nvPr/>
        </p:nvSpPr>
        <p:spPr>
          <a:xfrm rot="16200000">
            <a:off x="3419987" y="4317439"/>
            <a:ext cx="4980940" cy="0"/>
          </a:xfrm>
          <a:custGeom>
            <a:avLst/>
            <a:gdLst/>
            <a:ahLst/>
            <a:cxnLst/>
            <a:rect l="l" t="t" r="r" b="b"/>
            <a:pathLst>
              <a:path w="4980940">
                <a:moveTo>
                  <a:pt x="0" y="0"/>
                </a:moveTo>
                <a:lnTo>
                  <a:pt x="4980431" y="0"/>
                </a:lnTo>
              </a:path>
            </a:pathLst>
          </a:custGeom>
          <a:ln w="6096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">
            <a:extLst>
              <a:ext uri="{FF2B5EF4-FFF2-40B4-BE49-F238E27FC236}">
                <a16:creationId xmlns:a16="http://schemas.microsoft.com/office/drawing/2014/main" id="{1F94D5FB-BCDD-D34F-D87F-96D5A3B1CD40}"/>
              </a:ext>
            </a:extLst>
          </p:cNvPr>
          <p:cNvSpPr txBox="1"/>
          <p:nvPr/>
        </p:nvSpPr>
        <p:spPr>
          <a:xfrm>
            <a:off x="6235035" y="1749887"/>
            <a:ext cx="6185559" cy="5136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 dirty="0">
                <a:latin typeface="Arial"/>
                <a:cs typeface="Arial"/>
              </a:rPr>
              <a:t>…</a:t>
            </a:r>
            <a:r>
              <a:rPr sz="1650" b="1" spc="65" dirty="0">
                <a:latin typeface="Arial"/>
                <a:cs typeface="Arial"/>
              </a:rPr>
              <a:t> </a:t>
            </a:r>
            <a:r>
              <a:rPr lang="en-US" sz="1650" b="1" spc="65" dirty="0">
                <a:latin typeface="Arial"/>
                <a:cs typeface="Arial"/>
              </a:rPr>
              <a:t>in which trips are divided by 10 </a:t>
            </a:r>
            <a:r>
              <a:rPr lang="en-US" sz="1650" b="1" spc="65" dirty="0" err="1">
                <a:latin typeface="Arial"/>
                <a:cs typeface="Arial"/>
              </a:rPr>
              <a:t>TransJakarta</a:t>
            </a:r>
            <a:r>
              <a:rPr lang="en-US" sz="1650" b="1" spc="65" dirty="0">
                <a:latin typeface="Arial"/>
                <a:cs typeface="Arial"/>
              </a:rPr>
              <a:t> services categories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60" name="object 15">
            <a:extLst>
              <a:ext uri="{FF2B5EF4-FFF2-40B4-BE49-F238E27FC236}">
                <a16:creationId xmlns:a16="http://schemas.microsoft.com/office/drawing/2014/main" id="{C1F7DFAE-7C54-C926-DE31-469A8CB60068}"/>
              </a:ext>
            </a:extLst>
          </p:cNvPr>
          <p:cNvSpPr txBox="1"/>
          <p:nvPr/>
        </p:nvSpPr>
        <p:spPr>
          <a:xfrm>
            <a:off x="6235035" y="2388674"/>
            <a:ext cx="6337961" cy="4802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Passenger trips are heavily concentrated on cross-corridor BRT and </a:t>
            </a:r>
            <a:r>
              <a:rPr lang="en-US" sz="1250" dirty="0" err="1">
                <a:latin typeface="Arial"/>
                <a:cs typeface="Arial"/>
              </a:rPr>
              <a:t>mikrotrans</a:t>
            </a:r>
            <a:r>
              <a:rPr lang="en-US" sz="1250" dirty="0">
                <a:latin typeface="Arial"/>
                <a:cs typeface="Arial"/>
              </a:rPr>
              <a:t> services which shows dependency on integrated connectivity beyond primary BRT corridors.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65" name="object 15">
            <a:extLst>
              <a:ext uri="{FF2B5EF4-FFF2-40B4-BE49-F238E27FC236}">
                <a16:creationId xmlns:a16="http://schemas.microsoft.com/office/drawing/2014/main" id="{6B080C67-F637-AF4F-084D-09464BB4E24B}"/>
              </a:ext>
            </a:extLst>
          </p:cNvPr>
          <p:cNvSpPr txBox="1"/>
          <p:nvPr/>
        </p:nvSpPr>
        <p:spPr>
          <a:xfrm>
            <a:off x="6175628" y="6385609"/>
            <a:ext cx="6337961" cy="57002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Inter-Corridor BRT ex. 8C: </a:t>
            </a:r>
            <a:r>
              <a:rPr lang="en-US" sz="1250" dirty="0" err="1">
                <a:latin typeface="Arial"/>
                <a:cs typeface="Arial"/>
              </a:rPr>
              <a:t>Kebayoran</a:t>
            </a:r>
            <a:r>
              <a:rPr lang="en-US" sz="1250" dirty="0">
                <a:latin typeface="Arial"/>
                <a:cs typeface="Arial"/>
              </a:rPr>
              <a:t> Lama – Tanah Abang</a:t>
            </a:r>
          </a:p>
          <a:p>
            <a:pPr marL="12700" algn="ctr">
              <a:lnSpc>
                <a:spcPct val="100000"/>
              </a:lnSpc>
              <a:spcBef>
                <a:spcPts val="745"/>
              </a:spcBef>
            </a:pPr>
            <a:r>
              <a:rPr lang="en-US" sz="1250" dirty="0" err="1">
                <a:latin typeface="Arial"/>
                <a:cs typeface="Arial"/>
              </a:rPr>
              <a:t>Mikrotrans</a:t>
            </a:r>
            <a:r>
              <a:rPr lang="en-US" sz="1250" dirty="0">
                <a:latin typeface="Arial"/>
                <a:cs typeface="Arial"/>
              </a:rPr>
              <a:t> ex. JAK.06: Kampung Rambutan – </a:t>
            </a:r>
            <a:r>
              <a:rPr lang="en-US" sz="1250" dirty="0" err="1">
                <a:latin typeface="Arial"/>
                <a:cs typeface="Arial"/>
              </a:rPr>
              <a:t>Pondok</a:t>
            </a:r>
            <a:r>
              <a:rPr lang="en-US" sz="1250" dirty="0">
                <a:latin typeface="Arial"/>
                <a:cs typeface="Arial"/>
              </a:rPr>
              <a:t> Gede</a:t>
            </a:r>
            <a:endParaRPr sz="12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176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592C-159D-982E-16E5-30A0E808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24F79C-F33D-AB02-FF01-0D9B06AC1ACE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90A9EBF-E840-BBDF-5CCB-41330A68D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5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94.2% of Passenger Trips Occur during Regular BRT operations, highlighting strong dependence on daytime corridor services.</a:t>
            </a:r>
            <a:endParaRPr sz="2400"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A5FAD408-361F-308F-E67F-729820EA0C5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Data Analysis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BBA862C0-A7ED-6909-AC64-3794CA0629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ECBE3-700E-BF7F-72FA-21FDFBB84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193" y="2024813"/>
            <a:ext cx="9256327" cy="4166788"/>
          </a:xfrm>
          <a:prstGeom prst="rect">
            <a:avLst/>
          </a:prstGeom>
        </p:spPr>
      </p:pic>
      <p:sp>
        <p:nvSpPr>
          <p:cNvPr id="10" name="object 15">
            <a:extLst>
              <a:ext uri="{FF2B5EF4-FFF2-40B4-BE49-F238E27FC236}">
                <a16:creationId xmlns:a16="http://schemas.microsoft.com/office/drawing/2014/main" id="{10E558E3-1863-E9A9-A9E5-6628098F68C5}"/>
              </a:ext>
            </a:extLst>
          </p:cNvPr>
          <p:cNvSpPr txBox="1"/>
          <p:nvPr/>
        </p:nvSpPr>
        <p:spPr>
          <a:xfrm>
            <a:off x="457200" y="1500863"/>
            <a:ext cx="10515600" cy="28789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BRT corridor operation are categorized into Regular Trip and Night Trip services based on corridor services code.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A46BF315-9175-6FDD-6120-6533A79D618B}"/>
              </a:ext>
            </a:extLst>
          </p:cNvPr>
          <p:cNvSpPr txBox="1"/>
          <p:nvPr/>
        </p:nvSpPr>
        <p:spPr>
          <a:xfrm>
            <a:off x="569406" y="6218015"/>
            <a:ext cx="10515600" cy="85215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Night services operate at considerably lower trip volumes across most corridors.</a:t>
            </a:r>
          </a:p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Corridor 2, 12, and 5 record the strongest regular-trip dominance.</a:t>
            </a:r>
          </a:p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Selected corridors such as Corridor 10 and 13 exhibit comparatively higher night-service utilization.</a:t>
            </a:r>
            <a:endParaRPr sz="12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4529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309C-4276-FA37-0572-73AC3CC4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953C25-87A2-7BAF-5A3E-AF274E30F5C8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A632ED-6B96-9528-DD25-DA1B308B5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6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spc="-5" dirty="0">
                <a:solidFill>
                  <a:srgbClr val="000000"/>
                </a:solidFill>
              </a:rPr>
              <a:t>Passenger Demand is Highly Concentrated in Morning and Evening Peak Periods, Accounting for 74% of Total Transaction</a:t>
            </a:r>
            <a:endParaRPr sz="2400"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7512CB9A-A378-0E24-5254-C1F544380D9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Peak Hour Analysis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2AEB72A5-4062-4C60-F979-7F483CC26E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8</a:t>
            </a:r>
            <a:endParaRPr spc="-25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D1CE1E0-C0DE-BB54-E6C7-A94474887972}"/>
              </a:ext>
            </a:extLst>
          </p:cNvPr>
          <p:cNvSpPr txBox="1"/>
          <p:nvPr/>
        </p:nvSpPr>
        <p:spPr>
          <a:xfrm>
            <a:off x="534769" y="1648154"/>
            <a:ext cx="7569709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b="1" dirty="0">
                <a:latin typeface="Arial"/>
                <a:cs typeface="Arial"/>
              </a:rPr>
              <a:t>Peak-hour demand dominates </a:t>
            </a:r>
            <a:r>
              <a:rPr lang="en-US" sz="1650" b="1" dirty="0" err="1">
                <a:latin typeface="Arial"/>
                <a:cs typeface="Arial"/>
              </a:rPr>
              <a:t>TransJakarta</a:t>
            </a:r>
            <a:r>
              <a:rPr lang="en-US" sz="1650" b="1" dirty="0">
                <a:latin typeface="Arial"/>
                <a:cs typeface="Arial"/>
              </a:rPr>
              <a:t> passenger movement patterns.</a:t>
            </a:r>
            <a:endParaRPr sz="165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AC850-7BD0-B90B-FF4F-30022AAB8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1" y="2426721"/>
            <a:ext cx="7772400" cy="3114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6335C-A385-315E-E7BB-0DCD72BAA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621" y="2481136"/>
            <a:ext cx="3200400" cy="3005191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D7DE0C37-7C4B-0897-F44A-103E1B03BFDE}"/>
              </a:ext>
            </a:extLst>
          </p:cNvPr>
          <p:cNvSpPr txBox="1"/>
          <p:nvPr/>
        </p:nvSpPr>
        <p:spPr>
          <a:xfrm>
            <a:off x="534770" y="1971201"/>
            <a:ext cx="7569709" cy="5136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dirty="0">
                <a:latin typeface="Arial"/>
                <a:cs typeface="Arial"/>
              </a:rPr>
              <a:t>Transaction volume surge significantly during morning departure hours and return commutes.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947AC2A-4162-1BA0-C525-B4554FFD7BD6}"/>
              </a:ext>
            </a:extLst>
          </p:cNvPr>
          <p:cNvSpPr txBox="1"/>
          <p:nvPr/>
        </p:nvSpPr>
        <p:spPr>
          <a:xfrm>
            <a:off x="600782" y="5987518"/>
            <a:ext cx="7569709" cy="9027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18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Morning peak traffic reaches its highest point around 06:00.</a:t>
            </a:r>
          </a:p>
          <a:p>
            <a:pPr marL="298450" marR="5080" indent="-285750">
              <a:lnSpc>
                <a:spcPct val="1018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Evening demand intensifies again around 17:00.</a:t>
            </a:r>
          </a:p>
          <a:p>
            <a:pPr marL="298450" marR="5080" indent="-285750">
              <a:lnSpc>
                <a:spcPct val="1018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This number suggest capacity planning to be focused on morning and evening demand surges.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24FF5F1A-82EC-1F86-0CEC-867FAC07C038}"/>
              </a:ext>
            </a:extLst>
          </p:cNvPr>
          <p:cNvSpPr txBox="1"/>
          <p:nvPr/>
        </p:nvSpPr>
        <p:spPr>
          <a:xfrm>
            <a:off x="8566975" y="5763170"/>
            <a:ext cx="1680210" cy="1068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25" dirty="0">
                <a:solidFill>
                  <a:srgbClr val="1F3FE6"/>
                </a:solidFill>
                <a:latin typeface="Georgia"/>
                <a:cs typeface="Georgia"/>
              </a:rPr>
              <a:t>38%</a:t>
            </a:r>
            <a:endParaRPr sz="32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400" dirty="0">
                <a:solidFill>
                  <a:srgbClr val="1F3FE6"/>
                </a:solidFill>
                <a:latin typeface="Arial"/>
                <a:cs typeface="Arial"/>
              </a:rPr>
              <a:t>Morning Peak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FADB3F78-7AB4-F35E-5DE1-D6897AF81C3A}"/>
              </a:ext>
            </a:extLst>
          </p:cNvPr>
          <p:cNvSpPr txBox="1"/>
          <p:nvPr/>
        </p:nvSpPr>
        <p:spPr>
          <a:xfrm>
            <a:off x="10539221" y="5761665"/>
            <a:ext cx="1680210" cy="1068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25" dirty="0">
                <a:solidFill>
                  <a:srgbClr val="1F3FE6"/>
                </a:solidFill>
                <a:latin typeface="Georgia"/>
                <a:cs typeface="Georgia"/>
              </a:rPr>
              <a:t>36%</a:t>
            </a:r>
            <a:endParaRPr sz="3200" dirty="0">
              <a:latin typeface="Georgia"/>
              <a:cs typeface="Georgia"/>
            </a:endParaRPr>
          </a:p>
          <a:p>
            <a:pPr marL="58419" marR="5080" indent="-46355" algn="ctr">
              <a:lnSpc>
                <a:spcPts val="2270"/>
              </a:lnSpc>
              <a:spcBef>
                <a:spcPts val="2250"/>
              </a:spcBef>
            </a:pPr>
            <a:r>
              <a:rPr lang="en-US" sz="1400" dirty="0">
                <a:solidFill>
                  <a:srgbClr val="1F3FE6"/>
                </a:solidFill>
                <a:latin typeface="Arial"/>
                <a:cs typeface="Arial"/>
              </a:rPr>
              <a:t>Evening Peak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450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4702-9E48-D828-A4FB-8573F171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071063-280C-FBBD-41F5-0F9CB71CD1C3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99705C2-5633-52A3-A149-CD44120AD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7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spc="-5" dirty="0">
                <a:solidFill>
                  <a:srgbClr val="000000"/>
                </a:solidFill>
              </a:rPr>
              <a:t>Strong Inbound Passenger Movement Toward Central Area During Morning Peak Hour and Vice Versa during Evening Peak Hour</a:t>
            </a:r>
            <a:endParaRPr sz="2400"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EDDEBB21-C642-03C4-DED1-337B164D74E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Peak Hour Analysis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48E4B33-751D-F8EA-E379-73F1D4923E9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9</a:t>
            </a:r>
            <a:endParaRPr spc="-25" dirty="0"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DD7268AD-B0AB-A7B3-1C9A-C13C407E2411}"/>
              </a:ext>
            </a:extLst>
          </p:cNvPr>
          <p:cNvSpPr txBox="1"/>
          <p:nvPr/>
        </p:nvSpPr>
        <p:spPr>
          <a:xfrm>
            <a:off x="-381000" y="1619718"/>
            <a:ext cx="7569709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650" dirty="0">
                <a:latin typeface="Arial"/>
                <a:cs typeface="Arial"/>
              </a:rPr>
              <a:t>Central Area defines as far of 7 km radius from </a:t>
            </a:r>
            <a:r>
              <a:rPr lang="en-US" sz="1650" dirty="0" err="1">
                <a:latin typeface="Arial"/>
                <a:cs typeface="Arial"/>
              </a:rPr>
              <a:t>Bundaran</a:t>
            </a:r>
            <a:r>
              <a:rPr lang="en-US" sz="1650" dirty="0">
                <a:latin typeface="Arial"/>
                <a:cs typeface="Arial"/>
              </a:rPr>
              <a:t> HI 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2090AB18-CD76-B5FC-2592-67632EE72C2D}"/>
              </a:ext>
            </a:extLst>
          </p:cNvPr>
          <p:cNvSpPr txBox="1"/>
          <p:nvPr/>
        </p:nvSpPr>
        <p:spPr>
          <a:xfrm>
            <a:off x="2235640" y="5759781"/>
            <a:ext cx="4356595" cy="114710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Top 3 corridors are coming from sub-district; </a:t>
            </a:r>
            <a:r>
              <a:rPr lang="en-US" sz="1250" dirty="0" err="1">
                <a:latin typeface="Arial"/>
                <a:cs typeface="Arial"/>
              </a:rPr>
              <a:t>Ciputat</a:t>
            </a:r>
            <a:r>
              <a:rPr lang="en-US" sz="1250" dirty="0">
                <a:latin typeface="Arial"/>
                <a:cs typeface="Arial"/>
              </a:rPr>
              <a:t>-CSW, </a:t>
            </a:r>
            <a:r>
              <a:rPr lang="en-US" sz="1250" dirty="0" err="1">
                <a:latin typeface="Arial"/>
                <a:cs typeface="Arial"/>
              </a:rPr>
              <a:t>Cibubur</a:t>
            </a:r>
            <a:r>
              <a:rPr lang="en-US" sz="1250" dirty="0">
                <a:latin typeface="Arial"/>
                <a:cs typeface="Arial"/>
              </a:rPr>
              <a:t> – Balai Kota,  Kampung Rambutan – Pasar Rebo</a:t>
            </a:r>
          </a:p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Top bus stops are Monas, </a:t>
            </a:r>
            <a:r>
              <a:rPr lang="en-US" sz="1250" dirty="0" err="1">
                <a:latin typeface="Arial"/>
                <a:cs typeface="Arial"/>
              </a:rPr>
              <a:t>Gelora</a:t>
            </a:r>
            <a:r>
              <a:rPr lang="en-US" sz="1250" dirty="0">
                <a:latin typeface="Arial"/>
                <a:cs typeface="Arial"/>
              </a:rPr>
              <a:t> Bung Karno, </a:t>
            </a:r>
            <a:r>
              <a:rPr lang="en-US" sz="1250" dirty="0" err="1">
                <a:latin typeface="Arial"/>
                <a:cs typeface="Arial"/>
              </a:rPr>
              <a:t>Kejaksaan</a:t>
            </a:r>
            <a:r>
              <a:rPr lang="en-US" sz="1250" dirty="0">
                <a:latin typeface="Arial"/>
                <a:cs typeface="Arial"/>
              </a:rPr>
              <a:t> Agung.</a:t>
            </a:r>
            <a:endParaRPr sz="1250" dirty="0">
              <a:latin typeface="Arial"/>
              <a:cs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FC71C-6E23-B3DC-D5DA-09D3EE361BEC}"/>
              </a:ext>
            </a:extLst>
          </p:cNvPr>
          <p:cNvGrpSpPr/>
          <p:nvPr/>
        </p:nvGrpSpPr>
        <p:grpSpPr>
          <a:xfrm>
            <a:off x="583691" y="2102154"/>
            <a:ext cx="6008544" cy="3542280"/>
            <a:chOff x="583691" y="2102154"/>
            <a:chExt cx="6822420" cy="4022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6AF913-582E-A19D-2D76-7250BFF1A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3691" y="2102154"/>
              <a:ext cx="6822420" cy="4022092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2D42A00-71C6-C836-0241-C4257BD64C94}"/>
                </a:ext>
              </a:extLst>
            </p:cNvPr>
            <p:cNvCxnSpPr/>
            <p:nvPr/>
          </p:nvCxnSpPr>
          <p:spPr>
            <a:xfrm flipH="1">
              <a:off x="4724400" y="2514600"/>
              <a:ext cx="1676400" cy="1371600"/>
            </a:xfrm>
            <a:prstGeom prst="straightConnector1">
              <a:avLst/>
            </a:prstGeom>
            <a:ln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0FBDEE8-9560-1BFE-A978-C3AD83FB6B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97506" y="4591875"/>
              <a:ext cx="1585489" cy="1106551"/>
            </a:xfrm>
            <a:prstGeom prst="straightConnector1">
              <a:avLst/>
            </a:prstGeom>
            <a:ln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6BE744B-D739-0E9C-6331-EDA5D3960BF6}"/>
                </a:ext>
              </a:extLst>
            </p:cNvPr>
            <p:cNvCxnSpPr>
              <a:cxnSpLocks/>
            </p:cNvCxnSpPr>
            <p:nvPr/>
          </p:nvCxnSpPr>
          <p:spPr>
            <a:xfrm>
              <a:off x="1969293" y="2884370"/>
              <a:ext cx="1533812" cy="1015021"/>
            </a:xfrm>
            <a:prstGeom prst="straightConnector1">
              <a:avLst/>
            </a:prstGeom>
            <a:ln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12AAF8-C100-5481-9D18-CDE9922FA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3650" y="4591875"/>
              <a:ext cx="1640740" cy="1397353"/>
            </a:xfrm>
            <a:prstGeom prst="straightConnector1">
              <a:avLst/>
            </a:prstGeom>
            <a:ln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bject 15">
              <a:extLst>
                <a:ext uri="{FF2B5EF4-FFF2-40B4-BE49-F238E27FC236}">
                  <a16:creationId xmlns:a16="http://schemas.microsoft.com/office/drawing/2014/main" id="{C0462965-0053-2235-6AC7-5CD332E66F34}"/>
                </a:ext>
              </a:extLst>
            </p:cNvPr>
            <p:cNvSpPr txBox="1"/>
            <p:nvPr/>
          </p:nvSpPr>
          <p:spPr>
            <a:xfrm>
              <a:off x="897958" y="3179573"/>
              <a:ext cx="1170725" cy="763728"/>
            </a:xfrm>
            <a:prstGeom prst="rect">
              <a:avLst/>
            </a:prstGeom>
          </p:spPr>
          <p:txBody>
            <a:bodyPr vert="horz" wrap="square" lIns="0" tIns="9461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45"/>
                </a:spcBef>
              </a:pPr>
              <a:r>
                <a:rPr lang="en-US" sz="1250" dirty="0">
                  <a:latin typeface="Arial"/>
                  <a:cs typeface="Arial"/>
                </a:rPr>
                <a:t>Direction flow towards central area</a:t>
              </a:r>
              <a:endParaRPr sz="1250" dirty="0">
                <a:latin typeface="Arial"/>
                <a:cs typeface="Arial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49EEE87-2822-27BF-77F5-AF0A7524E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148" y="2073333"/>
            <a:ext cx="5954583" cy="3542279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DCABDBE9-D7C3-4446-6908-E7FCF9C88F8C}"/>
              </a:ext>
            </a:extLst>
          </p:cNvPr>
          <p:cNvSpPr txBox="1"/>
          <p:nvPr/>
        </p:nvSpPr>
        <p:spPr>
          <a:xfrm>
            <a:off x="658993" y="2107520"/>
            <a:ext cx="1849219" cy="254621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650" dirty="0">
                <a:solidFill>
                  <a:schemeClr val="bg1"/>
                </a:solidFill>
                <a:latin typeface="Arial"/>
                <a:cs typeface="Arial"/>
              </a:rPr>
              <a:t>Morning Peak Hour </a:t>
            </a:r>
            <a:endParaRPr sz="16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FF0C5844-9338-5413-750B-9C6BC3A97FEC}"/>
              </a:ext>
            </a:extLst>
          </p:cNvPr>
          <p:cNvSpPr txBox="1"/>
          <p:nvPr/>
        </p:nvSpPr>
        <p:spPr>
          <a:xfrm>
            <a:off x="6692148" y="2102154"/>
            <a:ext cx="1849219" cy="254621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650" dirty="0">
                <a:solidFill>
                  <a:schemeClr val="bg1"/>
                </a:solidFill>
                <a:latin typeface="Arial"/>
                <a:cs typeface="Arial"/>
              </a:rPr>
              <a:t>Evening Peak Hour </a:t>
            </a:r>
            <a:endParaRPr sz="16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F27825-6AE6-B559-5EB3-3AABDB7625CE}"/>
              </a:ext>
            </a:extLst>
          </p:cNvPr>
          <p:cNvCxnSpPr>
            <a:cxnSpLocks/>
          </p:cNvCxnSpPr>
          <p:nvPr/>
        </p:nvCxnSpPr>
        <p:spPr>
          <a:xfrm flipV="1">
            <a:off x="10043469" y="3238023"/>
            <a:ext cx="1200983" cy="606449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ject 14">
            <a:extLst>
              <a:ext uri="{FF2B5EF4-FFF2-40B4-BE49-F238E27FC236}">
                <a16:creationId xmlns:a16="http://schemas.microsoft.com/office/drawing/2014/main" id="{ABF81636-EEAA-97E9-E6DE-7AF2C451611C}"/>
              </a:ext>
            </a:extLst>
          </p:cNvPr>
          <p:cNvSpPr txBox="1"/>
          <p:nvPr/>
        </p:nvSpPr>
        <p:spPr>
          <a:xfrm>
            <a:off x="317606" y="5904421"/>
            <a:ext cx="1929092" cy="1100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5,371</a:t>
            </a:r>
            <a:endParaRPr lang="en-US" sz="3600" b="1" spc="-25" dirty="0">
              <a:latin typeface="Georgia"/>
              <a:cs typeface="Georgia"/>
            </a:endParaRP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solidFill>
                <a:srgbClr val="1F3FE6"/>
              </a:solidFill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Trips Inbound Towards Central Business Area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8D0EC9E9-E2AE-5FA6-0B5D-0D5FDED8C653}"/>
              </a:ext>
            </a:extLst>
          </p:cNvPr>
          <p:cNvSpPr txBox="1"/>
          <p:nvPr/>
        </p:nvSpPr>
        <p:spPr>
          <a:xfrm>
            <a:off x="5706852" y="1609191"/>
            <a:ext cx="7569709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650" dirty="0" err="1">
                <a:latin typeface="Arial"/>
                <a:cs typeface="Arial"/>
              </a:rPr>
              <a:t>Transjakarta</a:t>
            </a:r>
            <a:r>
              <a:rPr lang="en-US" sz="1650" dirty="0">
                <a:latin typeface="Arial"/>
                <a:cs typeface="Arial"/>
              </a:rPr>
              <a:t> passenger as far as 23 km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18B41666-EAE6-C7DD-17A5-6957661100A9}"/>
              </a:ext>
            </a:extLst>
          </p:cNvPr>
          <p:cNvSpPr txBox="1"/>
          <p:nvPr/>
        </p:nvSpPr>
        <p:spPr>
          <a:xfrm>
            <a:off x="11615667" y="3284611"/>
            <a:ext cx="1031064" cy="6726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Direction flow towards sub-district areas.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B58614D1-48BC-4DEB-7478-D230D17B9B71}"/>
              </a:ext>
            </a:extLst>
          </p:cNvPr>
          <p:cNvSpPr txBox="1"/>
          <p:nvPr/>
        </p:nvSpPr>
        <p:spPr>
          <a:xfrm>
            <a:off x="6592235" y="5719042"/>
            <a:ext cx="1929092" cy="1100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1F3FE6"/>
                </a:solidFill>
                <a:latin typeface="Georgia"/>
                <a:cs typeface="Georgia"/>
              </a:rPr>
              <a:t>12,856</a:t>
            </a:r>
            <a:endParaRPr lang="en-US" sz="3600" b="1" spc="-25" dirty="0">
              <a:latin typeface="Georgia"/>
              <a:cs typeface="Georgia"/>
            </a:endParaRP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solidFill>
                <a:srgbClr val="1F3FE6"/>
              </a:solidFill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Trips During Evening Peak Hour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5270AFAA-9A19-6B3F-958F-33FE58166B41}"/>
              </a:ext>
            </a:extLst>
          </p:cNvPr>
          <p:cNvSpPr txBox="1"/>
          <p:nvPr/>
        </p:nvSpPr>
        <p:spPr>
          <a:xfrm>
            <a:off x="8445006" y="5695639"/>
            <a:ext cx="4201726" cy="114710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Top 3 corridors are coming central area: Balai Kota – </a:t>
            </a:r>
            <a:r>
              <a:rPr lang="en-US" sz="1250" dirty="0" err="1">
                <a:latin typeface="Arial"/>
                <a:cs typeface="Arial"/>
              </a:rPr>
              <a:t>Cibubur</a:t>
            </a:r>
            <a:r>
              <a:rPr lang="en-US" sz="1250" dirty="0">
                <a:latin typeface="Arial"/>
                <a:cs typeface="Arial"/>
              </a:rPr>
              <a:t>,  Tanah Abang – </a:t>
            </a:r>
            <a:r>
              <a:rPr lang="en-US" sz="1250" dirty="0" err="1">
                <a:latin typeface="Arial"/>
                <a:cs typeface="Arial"/>
              </a:rPr>
              <a:t>Kebayoran</a:t>
            </a:r>
            <a:r>
              <a:rPr lang="en-US" sz="1250" dirty="0">
                <a:latin typeface="Arial"/>
                <a:cs typeface="Arial"/>
              </a:rPr>
              <a:t> Lama,  </a:t>
            </a:r>
            <a:r>
              <a:rPr lang="en-US" sz="1250" dirty="0" err="1">
                <a:latin typeface="Arial"/>
                <a:cs typeface="Arial"/>
              </a:rPr>
              <a:t>Bundaran</a:t>
            </a:r>
            <a:r>
              <a:rPr lang="en-US" sz="1250" dirty="0">
                <a:latin typeface="Arial"/>
                <a:cs typeface="Arial"/>
              </a:rPr>
              <a:t> HI - </a:t>
            </a:r>
            <a:r>
              <a:rPr lang="en-US" sz="1250" dirty="0" err="1">
                <a:latin typeface="Arial"/>
                <a:cs typeface="Arial"/>
              </a:rPr>
              <a:t>Kalideres</a:t>
            </a:r>
            <a:endParaRPr lang="en-US" sz="125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Top bus stops are BKN, Pinang Ranti, and </a:t>
            </a:r>
            <a:r>
              <a:rPr lang="en-US" sz="1250" dirty="0" err="1">
                <a:latin typeface="Arial"/>
                <a:cs typeface="Arial"/>
              </a:rPr>
              <a:t>Summarecon</a:t>
            </a:r>
            <a:r>
              <a:rPr lang="en-US" sz="1250" dirty="0">
                <a:latin typeface="Arial"/>
                <a:cs typeface="Arial"/>
              </a:rPr>
              <a:t> Bekasi.</a:t>
            </a:r>
            <a:endParaRPr sz="1250" dirty="0">
              <a:latin typeface="Arial"/>
              <a:cs typeface="Arial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B1E671-E182-68C5-FE0B-3C2DF6DEF068}"/>
              </a:ext>
            </a:extLst>
          </p:cNvPr>
          <p:cNvCxnSpPr>
            <a:cxnSpLocks/>
          </p:cNvCxnSpPr>
          <p:nvPr/>
        </p:nvCxnSpPr>
        <p:spPr>
          <a:xfrm>
            <a:off x="10043469" y="4109851"/>
            <a:ext cx="954132" cy="67228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A4F50A-E0CD-701F-BF5F-D9A96B4B9337}"/>
              </a:ext>
            </a:extLst>
          </p:cNvPr>
          <p:cNvCxnSpPr>
            <a:cxnSpLocks/>
          </p:cNvCxnSpPr>
          <p:nvPr/>
        </p:nvCxnSpPr>
        <p:spPr>
          <a:xfrm flipH="1" flipV="1">
            <a:off x="8445005" y="2968584"/>
            <a:ext cx="1154593" cy="795861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93252-B650-E641-3441-8695C76E804E}"/>
              </a:ext>
            </a:extLst>
          </p:cNvPr>
          <p:cNvCxnSpPr>
            <a:cxnSpLocks/>
          </p:cNvCxnSpPr>
          <p:nvPr/>
        </p:nvCxnSpPr>
        <p:spPr>
          <a:xfrm flipH="1">
            <a:off x="8651515" y="4018625"/>
            <a:ext cx="930154" cy="641071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96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CF01-318E-0F05-0002-16DBF165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7C7CF4-F2BE-ADE2-480D-2025B93DA87F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0BFD3991-D38A-4834-0436-222775AE99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Peak Hour Analysis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4A4104A7-550F-A825-F137-41377E81F2B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</a:t>
            </a:r>
            <a:r>
              <a:rPr lang="en-US" spc="-25" dirty="0"/>
              <a:t>0</a:t>
            </a:r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9C56B-594B-9401-E3B9-5A170DA98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178" y="1937018"/>
            <a:ext cx="6348358" cy="3627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4117B8-A61B-585C-3653-441C2D701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2858" y="1937018"/>
            <a:ext cx="6204564" cy="3549374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388E7A2E-DF64-89DC-50A6-B3BABA8DF9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8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lang="en-US" sz="2400" spc="-5" dirty="0">
                <a:solidFill>
                  <a:srgbClr val="000000"/>
                </a:solidFill>
              </a:rPr>
              <a:t>Evening peak passengers tend to travel slightly longer distances than Morning peak commuters.</a:t>
            </a:r>
            <a:endParaRPr sz="2400" dirty="0"/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9CB5D640-1363-70AA-C32C-A5A851D0AC32}"/>
              </a:ext>
            </a:extLst>
          </p:cNvPr>
          <p:cNvSpPr txBox="1"/>
          <p:nvPr/>
        </p:nvSpPr>
        <p:spPr>
          <a:xfrm>
            <a:off x="620562" y="5874364"/>
            <a:ext cx="4356595" cy="76238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Evening trips are slightly longer (+7%).</a:t>
            </a:r>
          </a:p>
          <a:p>
            <a:pPr marL="298450" indent="-28575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US" sz="1250" dirty="0">
                <a:latin typeface="Arial"/>
                <a:cs typeface="Arial"/>
              </a:rPr>
              <a:t>Both periods remain concentrated in short-to-medium distance travel.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9876F559-2570-45A2-03F2-845599830E91}"/>
              </a:ext>
            </a:extLst>
          </p:cNvPr>
          <p:cNvSpPr txBox="1"/>
          <p:nvPr/>
        </p:nvSpPr>
        <p:spPr>
          <a:xfrm>
            <a:off x="6984459" y="5688929"/>
            <a:ext cx="5182260" cy="100860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600" b="1" dirty="0" err="1">
                <a:latin typeface="Arial"/>
                <a:cs typeface="Arial"/>
              </a:rPr>
              <a:t>Inisghts</a:t>
            </a:r>
            <a:r>
              <a:rPr lang="en-US" sz="1600" b="1" dirty="0">
                <a:latin typeface="Arial"/>
                <a:cs typeface="Arial"/>
              </a:rPr>
              <a:t>: 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250" dirty="0">
                <a:latin typeface="Arial"/>
                <a:cs typeface="Arial"/>
              </a:rPr>
              <a:t>Passengers are more flexible in their return journeys, potentially relying on </a:t>
            </a:r>
            <a:r>
              <a:rPr lang="en-US" sz="1250" dirty="0" err="1">
                <a:latin typeface="Arial"/>
                <a:cs typeface="Arial"/>
              </a:rPr>
              <a:t>TransJakarta</a:t>
            </a:r>
            <a:r>
              <a:rPr lang="en-US" sz="1250" dirty="0">
                <a:latin typeface="Arial"/>
                <a:cs typeface="Arial"/>
              </a:rPr>
              <a:t> for broader end-to-end mobility compared to the more destination-driven morning commute.</a:t>
            </a:r>
            <a:endParaRPr sz="12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805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30036-2CD3-FA02-7439-45FACB27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5D3F74-C9A5-95F5-C2DD-D8F738D3BD9C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0ACB95-65D1-FD2A-B7C8-174CCD0290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817695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Insights: Passenger concentration patterns reveal opportunities for corridor expansion and multimodal hub development</a:t>
            </a:r>
            <a:endParaRPr sz="2400"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BB4BF10-AE99-DE2F-CAEB-9F65155C212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Insights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E58BF59-3FC8-E33F-C7ED-E0594D4918F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25" dirty="0"/>
              <a:t>11</a:t>
            </a:r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639C5-F730-1CDF-7F8A-F0320B1E7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46" r="1672" b="53591"/>
          <a:stretch>
            <a:fillRect/>
          </a:stretch>
        </p:blipFill>
        <p:spPr>
          <a:xfrm>
            <a:off x="603357" y="2414616"/>
            <a:ext cx="6026044" cy="1156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6693FF-974E-0AA5-B95A-7BB5D8CF78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0" b="486"/>
          <a:stretch>
            <a:fillRect/>
          </a:stretch>
        </p:blipFill>
        <p:spPr>
          <a:xfrm>
            <a:off x="1175362" y="4053327"/>
            <a:ext cx="5368885" cy="2905356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0B4AC9B7-5E74-FA1E-422B-87C5447DAFCD}"/>
              </a:ext>
            </a:extLst>
          </p:cNvPr>
          <p:cNvSpPr txBox="1"/>
          <p:nvPr/>
        </p:nvSpPr>
        <p:spPr>
          <a:xfrm>
            <a:off x="1362946" y="1625118"/>
            <a:ext cx="4809254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lang="en-US" sz="1650" b="1" dirty="0">
                <a:latin typeface="Arial"/>
                <a:cs typeface="Arial"/>
              </a:rPr>
              <a:t>Corridor &amp; Bus Stops Data allow us to learn…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5A51C287-37DA-4069-9DEA-1307D4B5B10F}"/>
              </a:ext>
            </a:extLst>
          </p:cNvPr>
          <p:cNvSpPr txBox="1"/>
          <p:nvPr/>
        </p:nvSpPr>
        <p:spPr>
          <a:xfrm>
            <a:off x="-261004" y="2062437"/>
            <a:ext cx="7569709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650" dirty="0">
                <a:latin typeface="Arial"/>
                <a:cs typeface="Arial"/>
              </a:rPr>
              <a:t>Top Corridor by Number of Trips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6D111474-1728-3213-6641-BEC458ECFA3A}"/>
              </a:ext>
            </a:extLst>
          </p:cNvPr>
          <p:cNvSpPr txBox="1"/>
          <p:nvPr/>
        </p:nvSpPr>
        <p:spPr>
          <a:xfrm>
            <a:off x="-261004" y="3758889"/>
            <a:ext cx="7569709" cy="254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95"/>
              </a:spcBef>
            </a:pPr>
            <a:r>
              <a:rPr lang="en-US" sz="1650" dirty="0">
                <a:latin typeface="Arial"/>
                <a:cs typeface="Arial"/>
              </a:rPr>
              <a:t>Top Stops by Number of Trips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D345C777-6CA6-4D87-92C2-383EFDF50220}"/>
              </a:ext>
            </a:extLst>
          </p:cNvPr>
          <p:cNvSpPr txBox="1"/>
          <p:nvPr/>
        </p:nvSpPr>
        <p:spPr>
          <a:xfrm>
            <a:off x="8280863" y="2062437"/>
            <a:ext cx="3810000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>
                <a:solidFill>
                  <a:srgbClr val="1F3FE6"/>
                </a:solidFill>
                <a:latin typeface="Georgia"/>
                <a:cs typeface="Georgia"/>
              </a:rPr>
              <a:t>Corridor Expansion Opportunity</a:t>
            </a:r>
            <a:endParaRPr lang="en-US" sz="2000" b="1" spc="-25" dirty="0">
              <a:latin typeface="Georgia"/>
              <a:cs typeface="Georgia"/>
            </a:endParaRPr>
          </a:p>
          <a:p>
            <a:pPr marL="1905" algn="just">
              <a:lnSpc>
                <a:spcPct val="100000"/>
              </a:lnSpc>
              <a:spcBef>
                <a:spcPts val="100"/>
              </a:spcBef>
            </a:pPr>
            <a:endParaRPr lang="en-US" sz="800" dirty="0">
              <a:solidFill>
                <a:srgbClr val="1F3FE6"/>
              </a:solidFill>
              <a:latin typeface="Arial"/>
              <a:cs typeface="Arial"/>
            </a:endParaRPr>
          </a:p>
          <a:p>
            <a:pPr marL="1905" algn="just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The strong passenger concentration observed along the </a:t>
            </a:r>
            <a:r>
              <a:rPr lang="en-US" sz="1100" dirty="0" err="1">
                <a:solidFill>
                  <a:srgbClr val="1F3FE6"/>
                </a:solidFill>
                <a:latin typeface="Arial"/>
                <a:cs typeface="Arial"/>
              </a:rPr>
              <a:t>Ciputat</a:t>
            </a: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–CSW corridor indicates potential demand for expanded </a:t>
            </a:r>
            <a:r>
              <a:rPr lang="en-US" sz="1100" dirty="0" err="1">
                <a:solidFill>
                  <a:srgbClr val="1F3FE6"/>
                </a:solidFill>
                <a:latin typeface="Arial"/>
                <a:cs typeface="Arial"/>
              </a:rPr>
              <a:t>TransJakarta</a:t>
            </a: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 connectivity toward the Velbak area. </a:t>
            </a:r>
          </a:p>
          <a:p>
            <a:pPr marL="1905" algn="just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solidFill>
                <a:srgbClr val="1F3FE6"/>
              </a:solidFill>
              <a:latin typeface="Arial"/>
              <a:cs typeface="Arial"/>
            </a:endParaRPr>
          </a:p>
          <a:p>
            <a:pPr marL="1905" algn="just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Enhancing direct corridor integration could reduce transits and increase public transport </a:t>
            </a:r>
            <a:r>
              <a:rPr lang="en-US" sz="1100" dirty="0" err="1">
                <a:solidFill>
                  <a:srgbClr val="1F3FE6"/>
                </a:solidFill>
                <a:latin typeface="Arial"/>
                <a:cs typeface="Arial"/>
              </a:rPr>
              <a:t>rideship</a:t>
            </a: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9109AC3C-7FD2-AF1E-A85F-BDBA69054855}"/>
              </a:ext>
            </a:extLst>
          </p:cNvPr>
          <p:cNvSpPr txBox="1"/>
          <p:nvPr/>
        </p:nvSpPr>
        <p:spPr>
          <a:xfrm>
            <a:off x="8361635" y="4640579"/>
            <a:ext cx="3810000" cy="977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>
                <a:solidFill>
                  <a:srgbClr val="1F3FE6"/>
                </a:solidFill>
                <a:latin typeface="Georgia"/>
                <a:cs typeface="Georgia"/>
              </a:rPr>
              <a:t>Potential Mobility Hubs</a:t>
            </a:r>
            <a:endParaRPr lang="en-US" sz="2000" b="1" spc="-25" dirty="0">
              <a:latin typeface="Georgia"/>
              <a:cs typeface="Georgia"/>
            </a:endParaRPr>
          </a:p>
          <a:p>
            <a:pPr marL="1905" algn="just">
              <a:lnSpc>
                <a:spcPct val="100000"/>
              </a:lnSpc>
              <a:spcBef>
                <a:spcPts val="100"/>
              </a:spcBef>
            </a:pPr>
            <a:endParaRPr lang="en-US" sz="800" dirty="0">
              <a:solidFill>
                <a:srgbClr val="1F3FE6"/>
              </a:solidFill>
              <a:latin typeface="Arial"/>
              <a:cs typeface="Arial"/>
            </a:endParaRPr>
          </a:p>
          <a:p>
            <a:pPr marL="1905" algn="just">
              <a:lnSpc>
                <a:spcPct val="100000"/>
              </a:lnSpc>
              <a:spcBef>
                <a:spcPts val="100"/>
              </a:spcBef>
            </a:pPr>
            <a:r>
              <a:rPr lang="en-US" sz="1100" dirty="0" err="1">
                <a:solidFill>
                  <a:srgbClr val="1F3FE6"/>
                </a:solidFill>
                <a:latin typeface="Arial"/>
                <a:cs typeface="Arial"/>
              </a:rPr>
              <a:t>Penjaringan</a:t>
            </a: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 and BKN show potential as strategic mobility hubs. </a:t>
            </a:r>
            <a:r>
              <a:rPr lang="en-US" sz="1100" dirty="0" err="1">
                <a:solidFill>
                  <a:srgbClr val="1F3FE6"/>
                </a:solidFill>
                <a:latin typeface="Arial"/>
                <a:cs typeface="Arial"/>
              </a:rPr>
              <a:t>Penjaringan</a:t>
            </a:r>
            <a:r>
              <a:rPr lang="en-US" sz="1100" dirty="0">
                <a:solidFill>
                  <a:srgbClr val="1F3FE6"/>
                </a:solidFill>
                <a:latin typeface="Arial"/>
                <a:cs typeface="Arial"/>
              </a:rPr>
              <a:t> is a potential hub for West – North Jakarta area and BKN for East Jakarta passenger distribution.</a:t>
            </a:r>
            <a:endParaRPr lang="en-US"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2384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6C4A-43AA-0A96-3185-F4AAF60B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7B606A-242B-8148-5538-D86CB949EC17}"/>
              </a:ext>
            </a:extLst>
          </p:cNvPr>
          <p:cNvSpPr/>
          <p:nvPr/>
        </p:nvSpPr>
        <p:spPr>
          <a:xfrm>
            <a:off x="583691" y="1528572"/>
            <a:ext cx="11635740" cy="0"/>
          </a:xfrm>
          <a:custGeom>
            <a:avLst/>
            <a:gdLst/>
            <a:ahLst/>
            <a:cxnLst/>
            <a:rect l="l" t="t" r="r" b="b"/>
            <a:pathLst>
              <a:path w="11635740">
                <a:moveTo>
                  <a:pt x="0" y="0"/>
                </a:moveTo>
                <a:lnTo>
                  <a:pt x="1163574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95BFF0-F02D-8722-02E3-BA4514BDB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406" y="412481"/>
            <a:ext cx="11663045" cy="1187027"/>
          </a:xfrm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lang="en-ID" sz="2400" dirty="0">
                <a:solidFill>
                  <a:schemeClr val="tx1"/>
                </a:solidFill>
              </a:rPr>
              <a:t>Future </a:t>
            </a:r>
            <a:r>
              <a:rPr lang="en-ID" sz="2400" dirty="0" err="1">
                <a:solidFill>
                  <a:schemeClr val="tx1"/>
                </a:solidFill>
              </a:rPr>
              <a:t>TransJakarta</a:t>
            </a:r>
            <a:r>
              <a:rPr lang="en-ID" sz="2400" dirty="0">
                <a:solidFill>
                  <a:schemeClr val="tx1"/>
                </a:solidFill>
              </a:rPr>
              <a:t> network growth will increasingly depend on corridor integration, multimodal connectivity, and strategic hub-based mobility development.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7DFE2D3F-AC03-0025-E17A-A777ADD7B0F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641520" y="7108127"/>
            <a:ext cx="1205865" cy="2930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Key Takeaways &amp; Strategic Insights</a:t>
            </a:r>
            <a:endParaRPr spc="-10"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06606CF-8EB1-C212-5653-903D2B8032C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2072575" y="7106621"/>
            <a:ext cx="198120" cy="146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</a:t>
            </a:r>
            <a:r>
              <a:rPr lang="en-US" spc="-25" dirty="0"/>
              <a:t>2</a:t>
            </a:r>
            <a:endParaRPr spc="-25" dirty="0"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1B0C26EA-43A8-63C0-40D8-5BF460E18A1E}"/>
              </a:ext>
            </a:extLst>
          </p:cNvPr>
          <p:cNvSpPr txBox="1"/>
          <p:nvPr/>
        </p:nvSpPr>
        <p:spPr>
          <a:xfrm>
            <a:off x="762001" y="2660706"/>
            <a:ext cx="5638800" cy="10135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l">
              <a:lnSpc>
                <a:spcPct val="101800"/>
              </a:lnSpc>
              <a:spcBef>
                <a:spcPts val="95"/>
              </a:spcBef>
              <a:buAutoNum type="arabicPeriod"/>
            </a:pPr>
            <a:r>
              <a:rPr lang="en-US" sz="1600" b="1" dirty="0">
                <a:latin typeface="Arial"/>
                <a:cs typeface="Arial"/>
              </a:rPr>
              <a:t>Jakarta mobility remains highly commuter-driven</a:t>
            </a:r>
          </a:p>
          <a:p>
            <a:pPr marL="12700" marR="5080" algn="just">
              <a:lnSpc>
                <a:spcPct val="101800"/>
              </a:lnSpc>
              <a:spcBef>
                <a:spcPts val="95"/>
              </a:spcBef>
            </a:pPr>
            <a:r>
              <a:rPr lang="en-US" sz="1600" dirty="0">
                <a:latin typeface="Arial"/>
                <a:cs typeface="Arial"/>
              </a:rPr>
              <a:t>Passenger demand is heavily concentrated during morning and evening peak hours, indicating strong dependency for daily work-related mobility.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4D11EC39-AB9B-8A00-AA2B-93700D2BF7DA}"/>
              </a:ext>
            </a:extLst>
          </p:cNvPr>
          <p:cNvSpPr txBox="1"/>
          <p:nvPr/>
        </p:nvSpPr>
        <p:spPr>
          <a:xfrm>
            <a:off x="2209800" y="1905000"/>
            <a:ext cx="2400368" cy="3815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905" marR="5080" algn="ctr">
              <a:spcBef>
                <a:spcPts val="100"/>
              </a:spcBef>
            </a:pPr>
            <a:r>
              <a:rPr lang="en-US" sz="2400" b="1" spc="-25" dirty="0">
                <a:solidFill>
                  <a:srgbClr val="1F3FE6"/>
                </a:solidFill>
                <a:latin typeface="Georgia"/>
              </a:rPr>
              <a:t>Key Takeaways</a:t>
            </a:r>
            <a:endParaRPr sz="2400" b="1" spc="-25" dirty="0">
              <a:solidFill>
                <a:srgbClr val="1F3FE6"/>
              </a:solidFill>
              <a:latin typeface="Georgia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62712D1B-1224-9CE2-E756-8DA07AF17D15}"/>
              </a:ext>
            </a:extLst>
          </p:cNvPr>
          <p:cNvSpPr txBox="1"/>
          <p:nvPr/>
        </p:nvSpPr>
        <p:spPr>
          <a:xfrm>
            <a:off x="790075" y="4228677"/>
            <a:ext cx="5638800" cy="10135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800"/>
              </a:lnSpc>
              <a:spcBef>
                <a:spcPts val="95"/>
              </a:spcBef>
            </a:pPr>
            <a:r>
              <a:rPr lang="en-US" sz="1600" b="1" dirty="0">
                <a:latin typeface="Arial"/>
                <a:cs typeface="Arial"/>
              </a:rPr>
              <a:t>2. High-demand corridors highlight suburban-to-core connectivity needs</a:t>
            </a:r>
          </a:p>
          <a:p>
            <a:pPr marL="12700" marR="5080" algn="just">
              <a:lnSpc>
                <a:spcPct val="101800"/>
              </a:lnSpc>
              <a:spcBef>
                <a:spcPts val="95"/>
              </a:spcBef>
            </a:pPr>
            <a:r>
              <a:rPr lang="en-US" sz="1600" dirty="0">
                <a:latin typeface="Arial"/>
                <a:cs typeface="Arial"/>
              </a:rPr>
              <a:t>Such as </a:t>
            </a:r>
            <a:r>
              <a:rPr lang="en-US" sz="1600" dirty="0" err="1">
                <a:latin typeface="Arial"/>
                <a:cs typeface="Arial"/>
              </a:rPr>
              <a:t>Cibubur</a:t>
            </a:r>
            <a:r>
              <a:rPr lang="en-US" sz="1600" dirty="0">
                <a:latin typeface="Arial"/>
                <a:cs typeface="Arial"/>
              </a:rPr>
              <a:t>-Balai Kota and </a:t>
            </a:r>
            <a:r>
              <a:rPr lang="en-US" sz="1600" dirty="0" err="1">
                <a:latin typeface="Arial"/>
                <a:cs typeface="Arial"/>
              </a:rPr>
              <a:t>Ciputat</a:t>
            </a:r>
            <a:r>
              <a:rPr lang="en-US" sz="1600" dirty="0">
                <a:latin typeface="Arial"/>
                <a:cs typeface="Arial"/>
              </a:rPr>
              <a:t>-CSW show high amount of daily trips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ABBB618-E8D1-A275-509C-37E4D5AA42FE}"/>
              </a:ext>
            </a:extLst>
          </p:cNvPr>
          <p:cNvSpPr txBox="1"/>
          <p:nvPr/>
        </p:nvSpPr>
        <p:spPr>
          <a:xfrm>
            <a:off x="8245165" y="1904999"/>
            <a:ext cx="3236785" cy="3815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905" marR="5080" algn="ctr">
              <a:spcBef>
                <a:spcPts val="100"/>
              </a:spcBef>
            </a:pPr>
            <a:r>
              <a:rPr lang="en-US" sz="2400" b="1" spc="-25" dirty="0">
                <a:solidFill>
                  <a:srgbClr val="1F3FE6"/>
                </a:solidFill>
                <a:latin typeface="Georgia"/>
              </a:rPr>
              <a:t>Strategic Insights</a:t>
            </a:r>
            <a:endParaRPr sz="2400" b="1" spc="-25" dirty="0">
              <a:solidFill>
                <a:srgbClr val="1F3FE6"/>
              </a:solidFill>
              <a:latin typeface="Georgia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3D5886CD-57DE-7FF6-D134-0C704B35DCF3}"/>
              </a:ext>
            </a:extLst>
          </p:cNvPr>
          <p:cNvSpPr txBox="1"/>
          <p:nvPr/>
        </p:nvSpPr>
        <p:spPr>
          <a:xfrm>
            <a:off x="7587076" y="2592005"/>
            <a:ext cx="4683619" cy="1264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l">
              <a:lnSpc>
                <a:spcPct val="101800"/>
              </a:lnSpc>
              <a:spcBef>
                <a:spcPts val="95"/>
              </a:spcBef>
              <a:buAutoNum type="arabicPeriod"/>
            </a:pPr>
            <a:r>
              <a:rPr lang="en-US" sz="1600" b="1" dirty="0">
                <a:latin typeface="Arial"/>
                <a:cs typeface="Arial"/>
              </a:rPr>
              <a:t>Corridor expansion and mobility hub development opportunity.</a:t>
            </a:r>
          </a:p>
          <a:p>
            <a:pPr marL="12700" marR="5080" algn="just">
              <a:lnSpc>
                <a:spcPct val="101800"/>
              </a:lnSpc>
              <a:spcBef>
                <a:spcPts val="95"/>
              </a:spcBef>
            </a:pPr>
            <a:r>
              <a:rPr lang="en-US" sz="1600" dirty="0">
                <a:latin typeface="Arial"/>
                <a:cs typeface="Arial"/>
              </a:rPr>
              <a:t>Trips per day shows insightful data on corridors that has opportunities to be expanded and new hub like </a:t>
            </a:r>
            <a:r>
              <a:rPr lang="en-US" sz="1600" dirty="0" err="1">
                <a:latin typeface="Arial"/>
                <a:cs typeface="Arial"/>
              </a:rPr>
              <a:t>Penjaringan</a:t>
            </a:r>
            <a:r>
              <a:rPr lang="en-US" sz="1600" dirty="0">
                <a:latin typeface="Arial"/>
                <a:cs typeface="Arial"/>
              </a:rPr>
              <a:t> and BKN.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9E1D1099-A977-804C-3A7B-D9352E55A00D}"/>
              </a:ext>
            </a:extLst>
          </p:cNvPr>
          <p:cNvSpPr txBox="1"/>
          <p:nvPr/>
        </p:nvSpPr>
        <p:spPr>
          <a:xfrm>
            <a:off x="7587076" y="4536244"/>
            <a:ext cx="4683619" cy="15415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lnSpc>
                <a:spcPct val="101800"/>
              </a:lnSpc>
              <a:spcBef>
                <a:spcPts val="95"/>
              </a:spcBef>
            </a:pPr>
            <a:r>
              <a:rPr lang="en-US" sz="1600" b="1" dirty="0">
                <a:latin typeface="Arial"/>
                <a:cs typeface="Arial"/>
              </a:rPr>
              <a:t>2. Operational Optimization Opportunity</a:t>
            </a:r>
          </a:p>
          <a:p>
            <a:pPr marL="12700" marR="5080" algn="just">
              <a:lnSpc>
                <a:spcPct val="101800"/>
              </a:lnSpc>
              <a:spcBef>
                <a:spcPts val="95"/>
              </a:spcBef>
            </a:pPr>
            <a:r>
              <a:rPr lang="en-US" sz="1600" dirty="0">
                <a:latin typeface="Arial"/>
                <a:cs typeface="Arial"/>
              </a:rPr>
              <a:t>Classifying corridors based on trips per day and its type may beneficial to set:</a:t>
            </a:r>
          </a:p>
          <a:p>
            <a:pPr marL="298450" marR="5080" indent="-285750" algn="just">
              <a:lnSpc>
                <a:spcPct val="101800"/>
              </a:lnSpc>
              <a:spcBef>
                <a:spcPts val="95"/>
              </a:spcBef>
              <a:buFont typeface="Wingdings" pitchFamily="2" charset="2"/>
              <a:buChar char="à"/>
            </a:pPr>
            <a:r>
              <a:rPr lang="en-US" sz="1600" dirty="0">
                <a:latin typeface="Arial"/>
                <a:cs typeface="Arial"/>
                <a:sym typeface="Wingdings" pitchFamily="2" charset="2"/>
              </a:rPr>
              <a:t>Right Fleet Sizing</a:t>
            </a:r>
          </a:p>
          <a:p>
            <a:pPr marL="298450" marR="5080" indent="-285750" algn="just">
              <a:lnSpc>
                <a:spcPct val="101800"/>
              </a:lnSpc>
              <a:spcBef>
                <a:spcPts val="95"/>
              </a:spcBef>
              <a:buFont typeface="Wingdings" pitchFamily="2" charset="2"/>
              <a:buChar char="à"/>
            </a:pPr>
            <a:r>
              <a:rPr lang="en-US" sz="1600" dirty="0">
                <a:latin typeface="Arial"/>
                <a:cs typeface="Arial"/>
                <a:sym typeface="Wingdings" pitchFamily="2" charset="2"/>
              </a:rPr>
              <a:t>Optimizing Headway and Service Frequency Adjustment</a:t>
            </a:r>
          </a:p>
        </p:txBody>
      </p:sp>
    </p:spTree>
    <p:extLst>
      <p:ext uri="{BB962C8B-B14F-4D97-AF65-F5344CB8AC3E}">
        <p14:creationId xmlns:p14="http://schemas.microsoft.com/office/powerpoint/2010/main" val="3394200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048000"/>
            <a:ext cx="11663045" cy="1113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35"/>
              </a:spcBef>
            </a:pPr>
            <a:r>
              <a:rPr dirty="0"/>
              <a:t>Thank</a:t>
            </a:r>
            <a:r>
              <a:rPr spc="-40" dirty="0"/>
              <a:t> </a:t>
            </a:r>
            <a:r>
              <a:rPr spc="-79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8917</TotalTime>
  <Words>1110</Words>
  <Application>Microsoft Macintosh PowerPoint</Application>
  <PresentationFormat>Custom</PresentationFormat>
  <Paragraphs>167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Georgia</vt:lpstr>
      <vt:lpstr>Wingdings</vt:lpstr>
      <vt:lpstr>Office Theme</vt:lpstr>
      <vt:lpstr>Optimizing Peak-Hour Operations Through Passenger Mobility Analysis</vt:lpstr>
      <vt:lpstr>Table of Contents</vt:lpstr>
      <vt:lpstr>1: Passenger demand is heavily concentrated during weekday commuting periods, creating significant pressure on several TransJakarta corridors</vt:lpstr>
      <vt:lpstr>2: Increasing urban mobility demand requires more adaptive and data-driven public transport operations</vt:lpstr>
      <vt:lpstr>3: The Dataset Captures Mean of 1,263 Daily Passenger Transaction Activity Across Multiple TransJakarta Corridors  Transaction-level TransJakarta passenger mobility data taken on April 2023.</vt:lpstr>
      <vt:lpstr>4: More than 35k+ cleaned transaction records were validated and prepared for reliable operational and mobility analysis</vt:lpstr>
      <vt:lpstr>5: 94.2% of Passenger Trips Occur during Regular BRT operations, highlighting strong dependence on daytime corridor services.</vt:lpstr>
      <vt:lpstr>6: Passenger Demand is Highly Concentrated in Morning and Evening Peak Periods, Accounting for 74% of Total Transaction</vt:lpstr>
      <vt:lpstr>7: Strong Inbound Passenger Movement Toward Central Area During Morning Peak Hour and Vice Versa during Evening Peak Hour</vt:lpstr>
      <vt:lpstr>8: Evening peak passengers tend to travel slightly longer distances than Morning peak commuters.</vt:lpstr>
      <vt:lpstr>Insights: Passenger concentration patterns reveal opportunities for corridor expansion and multimodal hub development</vt:lpstr>
      <vt:lpstr>Future TransJakarta network growth will increasingly depend on corridor integration, multimodal connectivity, and strategic hub-based mobility development.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- 20201112_TRTCpresentation_vshared_vf  -  Read-Only</dc:title>
  <dc:creator>Devin Brown</dc:creator>
  <cp:lastModifiedBy>Primetta Tatiana</cp:lastModifiedBy>
  <cp:revision>4</cp:revision>
  <dcterms:created xsi:type="dcterms:W3CDTF">2025-05-28T04:27:45Z</dcterms:created>
  <dcterms:modified xsi:type="dcterms:W3CDTF">2026-05-22T13:03:48Z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2020-11-18T00:00:00Z</vt:filetime>
  </property>
  <property fmtid="{D5CDD505-2E9C-101B-9397-08002B2CF9AE}" pid="3" name="LastSaved">
    <vt:filetime>2025-05-28T00:00:00Z</vt:filetime>
  </property>
  <property fmtid="{D5CDD505-2E9C-101B-9397-08002B2CF9AE}" pid="4" name="Producer">
    <vt:lpwstr>Microsoft: Print To PDF</vt:lpwstr>
  </property>
</Properties>
</file>